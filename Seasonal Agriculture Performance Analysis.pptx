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8" d="100"/>
          <a:sy n="88" d="100"/>
        </p:scale>
        <p:origin x="398" y="6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5957" y="2794001"/>
            <a:ext cx="9876426" cy="743448"/>
          </a:xfrm>
        </p:spPr>
        <p:txBody>
          <a:bodyPr>
            <a:normAutofit fontScale="90000"/>
          </a:bodyPr>
          <a:lstStyle/>
          <a:p>
            <a:r>
              <a:rPr lang="en-GB" sz="3200" b="1" dirty="0">
                <a:latin typeface="Times New Roman" panose="02020603050405020304" pitchFamily="18" charset="0"/>
                <a:cs typeface="Times New Roman" panose="02020603050405020304" pitchFamily="18" charset="0"/>
              </a:rPr>
              <a:t>Project Title </a:t>
            </a:r>
            <a:r>
              <a:rPr lang="en-GB" sz="3200" b="1" dirty="0" smtClean="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Seasonal Agriculture Performance Analysis </a:t>
            </a:r>
            <a:endParaRPr lang="en-IN" sz="3200" b="1"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827313" y="4301829"/>
            <a:ext cx="536501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 </a:t>
            </a:r>
            <a:r>
              <a:rPr lang="en-IN" b="1" dirty="0">
                <a:latin typeface="Times New Roman" panose="02020603050405020304" pitchFamily="18" charset="0"/>
                <a:cs typeface="Times New Roman" panose="02020603050405020304" pitchFamily="18" charset="0"/>
              </a:rPr>
              <a:t>STU685e47beb510b1751009214</a:t>
            </a:r>
            <a:endParaRPr lang="en-US"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827313" y="3655498"/>
            <a:ext cx="5495109" cy="646331"/>
          </a:xfrm>
          <a:prstGeom prst="rect">
            <a:avLst/>
          </a:prstGeom>
          <a:noFill/>
        </p:spPr>
        <p:txBody>
          <a:bodyPr wrap="square" rtlCol="0">
            <a:spAutoFit/>
          </a:bodyPr>
          <a:lstStyle/>
          <a:p>
            <a:r>
              <a:rPr lang="en-IN" b="1" dirty="0" smtClean="0">
                <a:latin typeface="Times New Roman" panose="02020603050405020304" pitchFamily="18" charset="0"/>
                <a:cs typeface="Times New Roman" panose="02020603050405020304" pitchFamily="18" charset="0"/>
              </a:rPr>
              <a:t>Student Name – Sahana G A</a:t>
            </a:r>
          </a:p>
          <a:p>
            <a:r>
              <a:rPr lang="en-IN" b="1" dirty="0" smtClean="0">
                <a:latin typeface="Times New Roman" panose="02020603050405020304" pitchFamily="18" charset="0"/>
                <a:cs typeface="Times New Roman" panose="02020603050405020304" pitchFamily="18" charset="0"/>
              </a:rPr>
              <a:t>College Name – New Horizon College of Engineering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675957" y="1875556"/>
            <a:ext cx="7074249" cy="3863393"/>
          </a:xfrm>
        </p:spPr>
        <p:txBody>
          <a:bodyPr vert="horz" lIns="91440" tIns="45720" rIns="91440" bIns="45720" rtlCol="0" anchor="t">
            <a:normAutofit/>
          </a:bodyPr>
          <a:lstStyle/>
          <a:p>
            <a:pPr marL="0" indent="0" algn="just">
              <a:lnSpc>
                <a:spcPct val="150000"/>
              </a:lnSpc>
              <a:buNone/>
            </a:pPr>
            <a:r>
              <a:rPr lang="en-US" sz="17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17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a:t>
            </a:r>
            <a:r>
              <a:rPr lang="en-US" dirty="0"/>
              <a:t>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555896" y="317533"/>
            <a:ext cx="6276109" cy="830997"/>
          </a:xfrm>
        </p:spPr>
        <p:txBody>
          <a:bodyPr>
            <a:normAutofit fontScale="90000"/>
          </a:bodyPr>
          <a:lstStyle/>
          <a:p>
            <a:r>
              <a:rPr lang="en-GB" dirty="0">
                <a:latin typeface="Times New Roman" panose="02020603050405020304" pitchFamily="18" charset="0"/>
                <a:cs typeface="Times New Roman" panose="02020603050405020304" pitchFamily="18" charset="0"/>
              </a:rPr>
              <a:t>Project Description</a:t>
            </a:r>
            <a:br>
              <a:rPr lang="en-GB" dirty="0">
                <a:latin typeface="Times New Roman" panose="02020603050405020304" pitchFamily="18" charset="0"/>
                <a:cs typeface="Times New Roman" panose="02020603050405020304" pitchFamily="18" charset="0"/>
              </a:rPr>
            </a:b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p:cNvSpPr txBox="1"/>
          <p:nvPr/>
        </p:nvSpPr>
        <p:spPr>
          <a:xfrm>
            <a:off x="808443" y="1654125"/>
            <a:ext cx="7664995" cy="4016484"/>
          </a:xfrm>
          <a:prstGeom prst="rect">
            <a:avLst/>
          </a:prstGeom>
          <a:noFill/>
        </p:spPr>
        <p:txBody>
          <a:bodyPr wrap="square" rtlCol="0">
            <a:spAutoFit/>
          </a:bodyPr>
          <a:lstStyle/>
          <a:p>
            <a:pPr marL="342900" indent="-342900" algn="just">
              <a:buFont typeface="+mj-lt"/>
              <a:buAutoNum type="arabicPeriod"/>
            </a:pPr>
            <a:r>
              <a:rPr lang="en-US" sz="1700" dirty="0" smtClean="0">
                <a:latin typeface="Times New Roman" panose="02020603050405020304" pitchFamily="18" charset="0"/>
                <a:cs typeface="Times New Roman" panose="02020603050405020304" pitchFamily="18" charset="0"/>
              </a:rPr>
              <a:t>The </a:t>
            </a:r>
            <a:r>
              <a:rPr lang="en-US" sz="1700" b="1" dirty="0">
                <a:latin typeface="Times New Roman" panose="02020603050405020304" pitchFamily="18" charset="0"/>
                <a:cs typeface="Times New Roman" panose="02020603050405020304" pitchFamily="18" charset="0"/>
              </a:rPr>
              <a:t>Seasonal Agriculture Performance Analysis</a:t>
            </a:r>
            <a:r>
              <a:rPr lang="en-US" sz="1700" dirty="0">
                <a:latin typeface="Times New Roman" panose="02020603050405020304" pitchFamily="18" charset="0"/>
                <a:cs typeface="Times New Roman" panose="02020603050405020304" pitchFamily="18" charset="0"/>
              </a:rPr>
              <a:t> project focuses on analyzing agricultural data to understand how crop performance varies across different seasons and farming conditions</a:t>
            </a:r>
            <a:r>
              <a:rPr lang="en-US" sz="1700" dirty="0" smtClean="0">
                <a:latin typeface="Times New Roman" panose="02020603050405020304" pitchFamily="18" charset="0"/>
                <a:cs typeface="Times New Roman" panose="02020603050405020304" pitchFamily="18" charset="0"/>
              </a:rPr>
              <a:t>.</a:t>
            </a:r>
          </a:p>
          <a:p>
            <a:pPr marL="342900" indent="-342900" algn="just">
              <a:buFont typeface="+mj-lt"/>
              <a:buAutoNum type="arabicPeriod"/>
            </a:pPr>
            <a:endParaRPr lang="en-US" sz="17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700" dirty="0">
                <a:latin typeface="Times New Roman" panose="02020603050405020304" pitchFamily="18" charset="0"/>
                <a:cs typeface="Times New Roman" panose="02020603050405020304" pitchFamily="18" charset="0"/>
              </a:rPr>
              <a:t>The project examines </a:t>
            </a:r>
            <a:r>
              <a:rPr lang="en-US" sz="1700" b="1" dirty="0">
                <a:latin typeface="Times New Roman" panose="02020603050405020304" pitchFamily="18" charset="0"/>
                <a:cs typeface="Times New Roman" panose="02020603050405020304" pitchFamily="18" charset="0"/>
              </a:rPr>
              <a:t>crop yield, production, environmental conditions, soil and nutrient factors, irrigation and resource usage, disease and pest risk, and economic performance</a:t>
            </a:r>
            <a:r>
              <a:rPr lang="en-US" sz="1700" dirty="0">
                <a:latin typeface="Times New Roman" panose="02020603050405020304" pitchFamily="18" charset="0"/>
                <a:cs typeface="Times New Roman" panose="02020603050405020304" pitchFamily="18" charset="0"/>
              </a:rPr>
              <a:t> to identify important patterns and relationships</a:t>
            </a:r>
            <a:r>
              <a:rPr lang="en-US" sz="1700" dirty="0" smtClean="0">
                <a:latin typeface="Times New Roman" panose="02020603050405020304" pitchFamily="18" charset="0"/>
                <a:cs typeface="Times New Roman" panose="02020603050405020304" pitchFamily="18" charset="0"/>
              </a:rPr>
              <a:t>.</a:t>
            </a:r>
          </a:p>
          <a:p>
            <a:pPr marL="342900" indent="-342900" algn="just">
              <a:buFont typeface="+mj-lt"/>
              <a:buAutoNum type="arabicPeriod"/>
            </a:pPr>
            <a:endParaRPr lang="en-US" sz="17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700" dirty="0">
                <a:latin typeface="Times New Roman" panose="02020603050405020304" pitchFamily="18" charset="0"/>
                <a:cs typeface="Times New Roman" panose="02020603050405020304" pitchFamily="18" charset="0"/>
              </a:rPr>
              <a:t>Through </a:t>
            </a:r>
            <a:r>
              <a:rPr lang="en-US" sz="1700" b="1" dirty="0">
                <a:latin typeface="Times New Roman" panose="02020603050405020304" pitchFamily="18" charset="0"/>
                <a:cs typeface="Times New Roman" panose="02020603050405020304" pitchFamily="18" charset="0"/>
              </a:rPr>
              <a:t>data cleaning, exploratory data analysis, statistical analysis, correlation analysis, comparative analysis, and data visualization</a:t>
            </a:r>
            <a:r>
              <a:rPr lang="en-US" sz="1700" dirty="0">
                <a:latin typeface="Times New Roman" panose="02020603050405020304" pitchFamily="18" charset="0"/>
                <a:cs typeface="Times New Roman" panose="02020603050405020304" pitchFamily="18" charset="0"/>
              </a:rPr>
              <a:t>, the project converts raw agricultural data into meaningful insights</a:t>
            </a:r>
            <a:r>
              <a:rPr lang="en-US" sz="1700" dirty="0" smtClean="0">
                <a:latin typeface="Times New Roman" panose="02020603050405020304" pitchFamily="18" charset="0"/>
                <a:cs typeface="Times New Roman" panose="02020603050405020304" pitchFamily="18" charset="0"/>
              </a:rPr>
              <a:t>.</a:t>
            </a:r>
          </a:p>
          <a:p>
            <a:pPr marL="342900" indent="-342900" algn="just">
              <a:buFont typeface="+mj-lt"/>
              <a:buAutoNum type="arabicPeriod"/>
            </a:pPr>
            <a:endParaRPr lang="en-US" sz="1700" dirty="0" smtClean="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700" dirty="0">
                <a:latin typeface="Times New Roman" panose="02020603050405020304" pitchFamily="18" charset="0"/>
                <a:cs typeface="Times New Roman" panose="02020603050405020304" pitchFamily="18" charset="0"/>
              </a:rPr>
              <a:t>The analysis helps understand the factors associated with </a:t>
            </a:r>
            <a:r>
              <a:rPr lang="en-US" sz="1700" b="1" dirty="0">
                <a:latin typeface="Times New Roman" panose="02020603050405020304" pitchFamily="18" charset="0"/>
                <a:cs typeface="Times New Roman" panose="02020603050405020304" pitchFamily="18" charset="0"/>
              </a:rPr>
              <a:t>agricultural productivity, resource efficiency, and profitability</a:t>
            </a:r>
            <a:r>
              <a:rPr lang="en-US" sz="1700" dirty="0">
                <a:latin typeface="Times New Roman" panose="02020603050405020304" pitchFamily="18" charset="0"/>
                <a:cs typeface="Times New Roman" panose="02020603050405020304" pitchFamily="18" charset="0"/>
              </a:rPr>
              <a:t>, and provides </a:t>
            </a:r>
            <a:r>
              <a:rPr lang="en-US" sz="1700" b="1" dirty="0">
                <a:latin typeface="Times New Roman" panose="02020603050405020304" pitchFamily="18" charset="0"/>
                <a:cs typeface="Times New Roman" panose="02020603050405020304" pitchFamily="18" charset="0"/>
              </a:rPr>
              <a:t>data-driven recommendations for better agricultural planning and decision-making</a:t>
            </a:r>
            <a:r>
              <a:rPr lang="en-US" sz="1700" dirty="0">
                <a:latin typeface="Times New Roman" panose="02020603050405020304" pitchFamily="18" charset="0"/>
                <a:cs typeface="Times New Roman" panose="02020603050405020304" pitchFamily="18" charset="0"/>
              </a:rPr>
              <a:t>.</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494936" y="1460137"/>
            <a:ext cx="8614230" cy="4618446"/>
          </a:xfrm>
        </p:spPr>
        <p:txBody>
          <a:bodyPr>
            <a:noAutofit/>
          </a:bodyPr>
          <a:lstStyle/>
          <a:p>
            <a:pPr algn="just">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Farmers &amp; Agricultural Producers</a:t>
            </a:r>
            <a:r>
              <a:rPr lang="en-US" sz="1700" dirty="0">
                <a:latin typeface="Times New Roman" panose="02020603050405020304" pitchFamily="18" charset="0"/>
                <a:cs typeface="Times New Roman" panose="02020603050405020304" pitchFamily="18" charset="0"/>
              </a:rPr>
              <a:t> — To understand seasonal crop performance and support better crop and resource planning</a:t>
            </a:r>
            <a:r>
              <a:rPr lang="en-US" sz="1700" dirty="0" smtClean="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Agricultural Planners &amp; Consultants</a:t>
            </a:r>
            <a:r>
              <a:rPr lang="en-US" sz="1700" dirty="0">
                <a:latin typeface="Times New Roman" panose="02020603050405020304" pitchFamily="18" charset="0"/>
                <a:cs typeface="Times New Roman" panose="02020603050405020304" pitchFamily="18" charset="0"/>
              </a:rPr>
              <a:t> — To analyze productivity, environmental conditions, and farming practices for informed planning</a:t>
            </a:r>
            <a:r>
              <a:rPr lang="en-US" sz="1700" dirty="0" smtClean="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Agricultural Researchers &amp; Analysts</a:t>
            </a:r>
            <a:r>
              <a:rPr lang="en-US" sz="1700" dirty="0">
                <a:latin typeface="Times New Roman" panose="02020603050405020304" pitchFamily="18" charset="0"/>
                <a:cs typeface="Times New Roman" panose="02020603050405020304" pitchFamily="18" charset="0"/>
              </a:rPr>
              <a:t> — To study seasonal patterns, relationships, and factors affecting agricultural performance</a:t>
            </a:r>
            <a:r>
              <a:rPr lang="en-US" sz="1700" dirty="0" smtClean="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Government &amp; Agricultural Departments</a:t>
            </a:r>
            <a:r>
              <a:rPr lang="en-US" sz="1700" dirty="0">
                <a:latin typeface="Times New Roman" panose="02020603050405020304" pitchFamily="18" charset="0"/>
                <a:cs typeface="Times New Roman" panose="02020603050405020304" pitchFamily="18" charset="0"/>
              </a:rPr>
              <a:t> — To support data-driven agricultural policies, resource allocation, and seasonal planning</a:t>
            </a:r>
            <a:r>
              <a:rPr lang="en-US" sz="1700" dirty="0" smtClean="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Agribusiness &amp; Market Stakeholders</a:t>
            </a:r>
            <a:r>
              <a:rPr lang="en-US" sz="1700" dirty="0">
                <a:latin typeface="Times New Roman" panose="02020603050405020304" pitchFamily="18" charset="0"/>
                <a:cs typeface="Times New Roman" panose="02020603050405020304" pitchFamily="18" charset="0"/>
              </a:rPr>
              <a:t> — To understand production and economic trends for better operational and market decisions.</a:t>
            </a:r>
            <a:endParaRPr lang="en-IN" sz="17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271665" y="380228"/>
            <a:ext cx="10046070" cy="802641"/>
          </a:xfrm>
        </p:spPr>
        <p:txBody>
          <a:bodyPr>
            <a:normAutofit/>
          </a:bodyPr>
          <a:lstStyle/>
          <a:p>
            <a:r>
              <a:rPr lang="en-US" sz="4300" dirty="0">
                <a:latin typeface="Times New Roman" panose="02020603050405020304" pitchFamily="18" charset="0"/>
                <a:cs typeface="Times New Roman" panose="02020603050405020304" pitchFamily="18" charset="0"/>
              </a:rPr>
              <a:t>WHO ARE THE END USERS?</a:t>
            </a:r>
            <a:endParaRPr lang="en-IN" sz="43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2036537" y="1166125"/>
            <a:ext cx="9990000" cy="5244336"/>
          </a:xfrm>
        </p:spPr>
        <p:txBody>
          <a:bodyPr numCol="2">
            <a:noAutofit/>
          </a:bodyPr>
          <a:lstStyle/>
          <a:p>
            <a:pPr marL="857250" lvl="1" indent="-400050">
              <a:buClr>
                <a:schemeClr val="tx1"/>
              </a:buClr>
              <a:buFont typeface="+mj-lt"/>
              <a:buAutoNum type="romanUcPeriod"/>
            </a:pPr>
            <a:r>
              <a:rPr lang="en-IN" sz="1700" dirty="0" smtClean="0">
                <a:latin typeface="Times New Roman" panose="02020603050405020304" pitchFamily="18" charset="0"/>
                <a:cs typeface="Times New Roman" panose="02020603050405020304" pitchFamily="18" charset="0"/>
              </a:rPr>
              <a:t>Programming </a:t>
            </a:r>
            <a:r>
              <a:rPr lang="en-IN" sz="1700" dirty="0">
                <a:latin typeface="Times New Roman" panose="02020603050405020304" pitchFamily="18" charset="0"/>
                <a:cs typeface="Times New Roman" panose="02020603050405020304" pitchFamily="18" charset="0"/>
              </a:rPr>
              <a:t>Language</a:t>
            </a:r>
            <a:r>
              <a:rPr lang="en-IN" sz="1700" dirty="0" smtClean="0">
                <a:latin typeface="Times New Roman" panose="02020603050405020304" pitchFamily="18" charset="0"/>
                <a:cs typeface="Times New Roman" panose="02020603050405020304" pitchFamily="18" charset="0"/>
              </a:rPr>
              <a:t>:</a:t>
            </a:r>
          </a:p>
          <a:p>
            <a:pPr marL="457200" lvl="1" indent="0">
              <a:buNone/>
            </a:pPr>
            <a:r>
              <a:rPr lang="en-IN" sz="1700" dirty="0" smtClean="0">
                <a:latin typeface="Times New Roman" panose="02020603050405020304" pitchFamily="18" charset="0"/>
                <a:cs typeface="Times New Roman" panose="02020603050405020304" pitchFamily="18" charset="0"/>
              </a:rPr>
              <a:t>          • Python</a:t>
            </a:r>
          </a:p>
          <a:p>
            <a:pPr marL="857250" lvl="1" indent="-400050">
              <a:buClr>
                <a:schemeClr val="tx1"/>
              </a:buClr>
              <a:buFont typeface="+mj-lt"/>
              <a:buAutoNum type="romanUcPeriod" startAt="2"/>
            </a:pPr>
            <a:r>
              <a:rPr lang="en-IN" sz="1700" dirty="0" smtClean="0">
                <a:latin typeface="Times New Roman" panose="02020603050405020304" pitchFamily="18" charset="0"/>
                <a:cs typeface="Times New Roman" panose="02020603050405020304" pitchFamily="18" charset="0"/>
              </a:rPr>
              <a:t>Development Environment</a:t>
            </a:r>
            <a:r>
              <a:rPr lang="en-IN" sz="1700" dirty="0">
                <a:latin typeface="Times New Roman" panose="02020603050405020304" pitchFamily="18" charset="0"/>
                <a:cs typeface="Times New Roman" panose="02020603050405020304" pitchFamily="18" charset="0"/>
              </a:rPr>
              <a:t>:</a:t>
            </a:r>
          </a:p>
          <a:p>
            <a:pPr marL="457200" lvl="1" indent="0">
              <a:buNone/>
            </a:pPr>
            <a:r>
              <a:rPr lang="en-IN" sz="1700" dirty="0" smtClean="0">
                <a:latin typeface="Times New Roman" panose="02020603050405020304" pitchFamily="18" charset="0"/>
                <a:cs typeface="Times New Roman" panose="02020603050405020304" pitchFamily="18" charset="0"/>
              </a:rPr>
              <a:t>          • </a:t>
            </a:r>
            <a:r>
              <a:rPr lang="en-IN" sz="1700" dirty="0">
                <a:latin typeface="Times New Roman" panose="02020603050405020304" pitchFamily="18" charset="0"/>
                <a:cs typeface="Times New Roman" panose="02020603050405020304" pitchFamily="18" charset="0"/>
              </a:rPr>
              <a:t>Google </a:t>
            </a:r>
            <a:r>
              <a:rPr lang="en-IN" sz="1700" dirty="0" err="1">
                <a:latin typeface="Times New Roman" panose="02020603050405020304" pitchFamily="18" charset="0"/>
                <a:cs typeface="Times New Roman" panose="02020603050405020304" pitchFamily="18" charset="0"/>
              </a:rPr>
              <a:t>Colab</a:t>
            </a:r>
            <a:endParaRPr lang="en-IN" sz="1700" dirty="0">
              <a:latin typeface="Times New Roman" panose="02020603050405020304" pitchFamily="18" charset="0"/>
              <a:cs typeface="Times New Roman" panose="02020603050405020304" pitchFamily="18" charset="0"/>
            </a:endParaRPr>
          </a:p>
          <a:p>
            <a:pPr marL="457200" lvl="1" indent="0">
              <a:buNone/>
            </a:pPr>
            <a:r>
              <a:rPr lang="en-IN" sz="1700" dirty="0" smtClean="0">
                <a:latin typeface="Times New Roman" panose="02020603050405020304" pitchFamily="18" charset="0"/>
                <a:cs typeface="Times New Roman" panose="02020603050405020304" pitchFamily="18" charset="0"/>
              </a:rPr>
              <a:t>          • </a:t>
            </a:r>
            <a:r>
              <a:rPr lang="en-IN" sz="1700" dirty="0" err="1">
                <a:latin typeface="Times New Roman" panose="02020603050405020304" pitchFamily="18" charset="0"/>
                <a:cs typeface="Times New Roman" panose="02020603050405020304" pitchFamily="18" charset="0"/>
              </a:rPr>
              <a:t>Jupyter</a:t>
            </a:r>
            <a:r>
              <a:rPr lang="en-IN" sz="1700" dirty="0">
                <a:latin typeface="Times New Roman" panose="02020603050405020304" pitchFamily="18" charset="0"/>
                <a:cs typeface="Times New Roman" panose="02020603050405020304" pitchFamily="18" charset="0"/>
              </a:rPr>
              <a:t> </a:t>
            </a:r>
            <a:r>
              <a:rPr lang="en-IN" sz="1700" dirty="0" smtClean="0">
                <a:latin typeface="Times New Roman" panose="02020603050405020304" pitchFamily="18" charset="0"/>
                <a:cs typeface="Times New Roman" panose="02020603050405020304" pitchFamily="18" charset="0"/>
              </a:rPr>
              <a:t>Notebook</a:t>
            </a:r>
          </a:p>
          <a:p>
            <a:pPr marL="857250" lvl="1" indent="-400050">
              <a:buClr>
                <a:schemeClr val="tx1"/>
              </a:buClr>
              <a:buFont typeface="+mj-lt"/>
              <a:buAutoNum type="romanUcPeriod" startAt="3"/>
            </a:pPr>
            <a:r>
              <a:rPr lang="en-IN" sz="1700" dirty="0" smtClean="0">
                <a:latin typeface="Times New Roman" panose="02020603050405020304" pitchFamily="18" charset="0"/>
                <a:cs typeface="Times New Roman" panose="02020603050405020304" pitchFamily="18" charset="0"/>
              </a:rPr>
              <a:t>Libraries:</a:t>
            </a:r>
          </a:p>
          <a:p>
            <a:pPr marL="457200" lvl="1" indent="0">
              <a:buNone/>
            </a:pPr>
            <a:r>
              <a:rPr lang="en-IN" sz="1700" dirty="0" smtClean="0">
                <a:latin typeface="Times New Roman" panose="02020603050405020304" pitchFamily="18" charset="0"/>
                <a:cs typeface="Times New Roman" panose="02020603050405020304" pitchFamily="18" charset="0"/>
              </a:rPr>
              <a:t>          • </a:t>
            </a:r>
            <a:r>
              <a:rPr lang="en-IN" sz="1700" dirty="0">
                <a:latin typeface="Times New Roman" panose="02020603050405020304" pitchFamily="18" charset="0"/>
                <a:cs typeface="Times New Roman" panose="02020603050405020304" pitchFamily="18" charset="0"/>
              </a:rPr>
              <a:t>Pandas – Data </a:t>
            </a:r>
            <a:r>
              <a:rPr lang="en-IN" sz="1700" dirty="0" smtClean="0">
                <a:latin typeface="Times New Roman" panose="02020603050405020304" pitchFamily="18" charset="0"/>
                <a:cs typeface="Times New Roman" panose="02020603050405020304" pitchFamily="18" charset="0"/>
              </a:rPr>
              <a:t>    manipulation </a:t>
            </a:r>
            <a:r>
              <a:rPr lang="en-IN" sz="1700" dirty="0">
                <a:latin typeface="Times New Roman" panose="02020603050405020304" pitchFamily="18" charset="0"/>
                <a:cs typeface="Times New Roman" panose="02020603050405020304" pitchFamily="18" charset="0"/>
              </a:rPr>
              <a:t>and analysis</a:t>
            </a:r>
          </a:p>
          <a:p>
            <a:pPr marL="457200" lvl="1" indent="0">
              <a:buNone/>
            </a:pPr>
            <a:r>
              <a:rPr lang="en-IN" sz="1700" dirty="0" smtClean="0">
                <a:latin typeface="Times New Roman" panose="02020603050405020304" pitchFamily="18" charset="0"/>
                <a:cs typeface="Times New Roman" panose="02020603050405020304" pitchFamily="18" charset="0"/>
              </a:rPr>
              <a:t>          • </a:t>
            </a:r>
            <a:r>
              <a:rPr lang="en-IN" sz="1700" dirty="0" err="1">
                <a:latin typeface="Times New Roman" panose="02020603050405020304" pitchFamily="18" charset="0"/>
                <a:cs typeface="Times New Roman" panose="02020603050405020304" pitchFamily="18" charset="0"/>
              </a:rPr>
              <a:t>NumPy</a:t>
            </a:r>
            <a:r>
              <a:rPr lang="en-IN" sz="1700" dirty="0">
                <a:latin typeface="Times New Roman" panose="02020603050405020304" pitchFamily="18" charset="0"/>
                <a:cs typeface="Times New Roman" panose="02020603050405020304" pitchFamily="18" charset="0"/>
              </a:rPr>
              <a:t> – Numerical computations</a:t>
            </a:r>
          </a:p>
          <a:p>
            <a:pPr marL="457200" lvl="1" indent="0">
              <a:buNone/>
            </a:pPr>
            <a:r>
              <a:rPr lang="en-IN" sz="1700" dirty="0" smtClean="0">
                <a:latin typeface="Times New Roman" panose="02020603050405020304" pitchFamily="18" charset="0"/>
                <a:cs typeface="Times New Roman" panose="02020603050405020304" pitchFamily="18" charset="0"/>
              </a:rPr>
              <a:t>          • </a:t>
            </a:r>
            <a:r>
              <a:rPr lang="en-IN" sz="1700" dirty="0" err="1">
                <a:latin typeface="Times New Roman" panose="02020603050405020304" pitchFamily="18" charset="0"/>
                <a:cs typeface="Times New Roman" panose="02020603050405020304" pitchFamily="18" charset="0"/>
              </a:rPr>
              <a:t>Matplotlib</a:t>
            </a:r>
            <a:r>
              <a:rPr lang="en-IN" sz="1700" dirty="0">
                <a:latin typeface="Times New Roman" panose="02020603050405020304" pitchFamily="18" charset="0"/>
                <a:cs typeface="Times New Roman" panose="02020603050405020304" pitchFamily="18" charset="0"/>
              </a:rPr>
              <a:t> – Data visualization</a:t>
            </a:r>
          </a:p>
          <a:p>
            <a:pPr marL="457200" lvl="1" indent="0">
              <a:buNone/>
            </a:pPr>
            <a:r>
              <a:rPr lang="en-IN" sz="1700" dirty="0" smtClean="0">
                <a:latin typeface="Times New Roman" panose="02020603050405020304" pitchFamily="18" charset="0"/>
                <a:cs typeface="Times New Roman" panose="02020603050405020304" pitchFamily="18" charset="0"/>
              </a:rPr>
              <a:t>          • </a:t>
            </a:r>
            <a:r>
              <a:rPr lang="en-IN" sz="1700" dirty="0" err="1">
                <a:latin typeface="Times New Roman" panose="02020603050405020304" pitchFamily="18" charset="0"/>
                <a:cs typeface="Times New Roman" panose="02020603050405020304" pitchFamily="18" charset="0"/>
              </a:rPr>
              <a:t>Seaborn</a:t>
            </a:r>
            <a:r>
              <a:rPr lang="en-IN" sz="1700" dirty="0">
                <a:latin typeface="Times New Roman" panose="02020603050405020304" pitchFamily="18" charset="0"/>
                <a:cs typeface="Times New Roman" panose="02020603050405020304" pitchFamily="18" charset="0"/>
              </a:rPr>
              <a:t> – Statistical data visualization</a:t>
            </a:r>
          </a:p>
          <a:p>
            <a:pPr marL="457200" lvl="1" indent="0">
              <a:buNone/>
            </a:pPr>
            <a:r>
              <a:rPr lang="en-IN" sz="1700" dirty="0" smtClean="0">
                <a:latin typeface="Times New Roman" panose="02020603050405020304" pitchFamily="18" charset="0"/>
                <a:cs typeface="Times New Roman" panose="02020603050405020304" pitchFamily="18" charset="0"/>
              </a:rPr>
              <a:t>          • </a:t>
            </a:r>
            <a:r>
              <a:rPr lang="en-IN" sz="1700" dirty="0" err="1">
                <a:latin typeface="Times New Roman" panose="02020603050405020304" pitchFamily="18" charset="0"/>
                <a:cs typeface="Times New Roman" panose="02020603050405020304" pitchFamily="18" charset="0"/>
              </a:rPr>
              <a:t>SciPy</a:t>
            </a:r>
            <a:r>
              <a:rPr lang="en-IN" sz="1700" dirty="0">
                <a:latin typeface="Times New Roman" panose="02020603050405020304" pitchFamily="18" charset="0"/>
                <a:cs typeface="Times New Roman" panose="02020603050405020304" pitchFamily="18" charset="0"/>
              </a:rPr>
              <a:t> – Statistical </a:t>
            </a:r>
            <a:r>
              <a:rPr lang="en-IN" sz="1700" dirty="0" smtClean="0">
                <a:latin typeface="Times New Roman" panose="02020603050405020304" pitchFamily="18" charset="0"/>
                <a:cs typeface="Times New Roman" panose="02020603050405020304" pitchFamily="18" charset="0"/>
              </a:rPr>
              <a:t>analysis</a:t>
            </a:r>
          </a:p>
          <a:p>
            <a:pPr marL="857250" lvl="1" indent="-400050">
              <a:buClr>
                <a:schemeClr val="tx1"/>
              </a:buClr>
              <a:buFont typeface="+mj-lt"/>
              <a:buAutoNum type="romanUcPeriod" startAt="4"/>
            </a:pPr>
            <a:r>
              <a:rPr lang="en-IN" sz="1700" dirty="0">
                <a:latin typeface="Times New Roman" panose="02020603050405020304" pitchFamily="18" charset="0"/>
                <a:cs typeface="Times New Roman" panose="02020603050405020304" pitchFamily="18" charset="0"/>
              </a:rPr>
              <a:t>Data Format</a:t>
            </a:r>
            <a:r>
              <a:rPr lang="en-IN" sz="1700" dirty="0" smtClean="0">
                <a:latin typeface="Times New Roman" panose="02020603050405020304" pitchFamily="18" charset="0"/>
                <a:cs typeface="Times New Roman" panose="02020603050405020304" pitchFamily="18" charset="0"/>
              </a:rPr>
              <a:t>:</a:t>
            </a:r>
          </a:p>
          <a:p>
            <a:pPr marL="457200" lvl="1" indent="0">
              <a:buNone/>
            </a:pPr>
            <a:r>
              <a:rPr lang="en-IN" sz="1700" dirty="0" smtClean="0">
                <a:latin typeface="Times New Roman" panose="02020603050405020304" pitchFamily="18" charset="0"/>
                <a:cs typeface="Times New Roman" panose="02020603050405020304" pitchFamily="18" charset="0"/>
              </a:rPr>
              <a:t>          • </a:t>
            </a:r>
            <a:r>
              <a:rPr lang="en-IN" sz="1700" dirty="0">
                <a:latin typeface="Times New Roman" panose="02020603050405020304" pitchFamily="18" charset="0"/>
                <a:cs typeface="Times New Roman" panose="02020603050405020304" pitchFamily="18" charset="0"/>
              </a:rPr>
              <a:t>CSV Dataset </a:t>
            </a:r>
          </a:p>
          <a:p>
            <a:pPr marL="457200" lvl="1" indent="0">
              <a:buNone/>
            </a:pPr>
            <a:endParaRPr lang="en-IN" sz="1700" dirty="0">
              <a:latin typeface="Times New Roman" panose="02020603050405020304" pitchFamily="18" charset="0"/>
              <a:cs typeface="Times New Roman" panose="02020603050405020304" pitchFamily="18" charset="0"/>
            </a:endParaRPr>
          </a:p>
          <a:p>
            <a:pPr marL="457200" lvl="1" indent="0">
              <a:buNone/>
            </a:pPr>
            <a:endParaRPr lang="en-IN" sz="1700" dirty="0">
              <a:latin typeface="Times New Roman" panose="02020603050405020304" pitchFamily="18" charset="0"/>
              <a:cs typeface="Times New Roman" panose="02020603050405020304" pitchFamily="18" charset="0"/>
            </a:endParaRPr>
          </a:p>
          <a:p>
            <a:pPr marL="457200" lvl="1" indent="0">
              <a:buNone/>
            </a:pPr>
            <a:endParaRPr lang="en-IN" sz="1700" dirty="0" smtClean="0">
              <a:latin typeface="Times New Roman" panose="02020603050405020304" pitchFamily="18" charset="0"/>
              <a:cs typeface="Times New Roman" panose="02020603050405020304" pitchFamily="18" charset="0"/>
            </a:endParaRPr>
          </a:p>
          <a:p>
            <a:pPr marL="457200" lvl="1" indent="0">
              <a:buNone/>
            </a:pPr>
            <a:endParaRPr lang="en-IN" sz="1700" dirty="0">
              <a:latin typeface="Times New Roman" panose="02020603050405020304" pitchFamily="18" charset="0"/>
              <a:cs typeface="Times New Roman" panose="02020603050405020304" pitchFamily="18" charset="0"/>
            </a:endParaRPr>
          </a:p>
          <a:p>
            <a:pPr marL="457200" lvl="1" indent="0">
              <a:buNone/>
            </a:pPr>
            <a:endParaRPr lang="en-IN" sz="1700" dirty="0">
              <a:latin typeface="Times New Roman" panose="02020603050405020304" pitchFamily="18" charset="0"/>
              <a:cs typeface="Times New Roman" panose="02020603050405020304" pitchFamily="18" charset="0"/>
            </a:endParaRPr>
          </a:p>
          <a:p>
            <a:pPr marL="457200" lvl="1" indent="0">
              <a:buNone/>
            </a:pPr>
            <a:endParaRPr lang="en-IN" sz="170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277406" y="246734"/>
            <a:ext cx="5306291" cy="847817"/>
          </a:xfrm>
        </p:spPr>
        <p:txBody>
          <a:bodyPr>
            <a:normAutofit/>
          </a:bodyPr>
          <a:lstStyle/>
          <a:p>
            <a:r>
              <a:rPr lang="en-US" sz="4300" dirty="0">
                <a:latin typeface="Times New Roman" panose="02020603050405020304" pitchFamily="18" charset="0"/>
                <a:cs typeface="Times New Roman" panose="02020603050405020304" pitchFamily="18" charset="0"/>
              </a:rPr>
              <a:t>Technology Used</a:t>
            </a:r>
          </a:p>
        </p:txBody>
      </p:sp>
      <p:pic>
        <p:nvPicPr>
          <p:cNvPr id="8" name="Picture 7">
            <a:extLst>
              <a:ext uri="{FF2B5EF4-FFF2-40B4-BE49-F238E27FC236}">
                <a16:creationId xmlns="" xmlns:a16="http://schemas.microsoft.com/office/drawing/2014/main" xmlns:lc="http://schemas.openxmlformats.org/drawingml/2006/lockedCanvas" id="{F1FC3E39-8C60-4F64-9838-2A683F25B8C4}"/>
              </a:ext>
            </a:extLst>
          </p:cNvPr>
          <p:cNvPicPr>
            <a:picLocks noChangeAspect="1"/>
          </p:cNvPicPr>
          <p:nvPr/>
        </p:nvPicPr>
        <p:blipFill>
          <a:blip r:embed="rId4"/>
          <a:stretch>
            <a:fillRect/>
          </a:stretch>
        </p:blipFill>
        <p:spPr>
          <a:xfrm flipH="1">
            <a:off x="0" y="3847976"/>
            <a:ext cx="1727200" cy="3010024"/>
          </a:xfrm>
          <a:prstGeom prst="rect">
            <a:avLst/>
          </a:prstGeom>
        </p:spPr>
      </p:pic>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7">
                                            <p:txEl>
                                              <p:pRg st="5" end="5"/>
                                            </p:txEl>
                                          </p:spTgt>
                                        </p:tgtEl>
                                        <p:attrNameLst>
                                          <p:attrName>style.visibility</p:attrName>
                                        </p:attrNameLst>
                                      </p:cBhvr>
                                      <p:to>
                                        <p:strVal val="visible"/>
                                      </p:to>
                                    </p:set>
                                    <p:animEffect transition="in" filter="fade">
                                      <p:cBhvr>
                                        <p:cTn id="47" dur="1000"/>
                                        <p:tgtEl>
                                          <p:spTgt spid="7">
                                            <p:txEl>
                                              <p:pRg st="5" end="5"/>
                                            </p:txEl>
                                          </p:spTgt>
                                        </p:tgtEl>
                                      </p:cBhvr>
                                    </p:animEffect>
                                    <p:anim calcmode="lin" valueType="num">
                                      <p:cBhvr>
                                        <p:cTn id="4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7">
                                            <p:txEl>
                                              <p:pRg st="5" end="5"/>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7">
                                            <p:txEl>
                                              <p:pRg st="6" end="6"/>
                                            </p:txEl>
                                          </p:spTgt>
                                        </p:tgtEl>
                                        <p:attrNameLst>
                                          <p:attrName>style.visibility</p:attrName>
                                        </p:attrNameLst>
                                      </p:cBhvr>
                                      <p:to>
                                        <p:strVal val="visible"/>
                                      </p:to>
                                    </p:set>
                                    <p:animEffect transition="in" filter="fade">
                                      <p:cBhvr>
                                        <p:cTn id="52" dur="1000"/>
                                        <p:tgtEl>
                                          <p:spTgt spid="7">
                                            <p:txEl>
                                              <p:pRg st="6" end="6"/>
                                            </p:txEl>
                                          </p:spTgt>
                                        </p:tgtEl>
                                      </p:cBhvr>
                                    </p:animEffect>
                                    <p:anim calcmode="lin" valueType="num">
                                      <p:cBhvr>
                                        <p:cTn id="53"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4" dur="1000" fill="hold"/>
                                        <p:tgtEl>
                                          <p:spTgt spid="7">
                                            <p:txEl>
                                              <p:pRg st="6" end="6"/>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7">
                                            <p:txEl>
                                              <p:pRg st="7" end="7"/>
                                            </p:txEl>
                                          </p:spTgt>
                                        </p:tgtEl>
                                        <p:attrNameLst>
                                          <p:attrName>style.visibility</p:attrName>
                                        </p:attrNameLst>
                                      </p:cBhvr>
                                      <p:to>
                                        <p:strVal val="visible"/>
                                      </p:to>
                                    </p:set>
                                    <p:animEffect transition="in" filter="fade">
                                      <p:cBhvr>
                                        <p:cTn id="57" dur="1000"/>
                                        <p:tgtEl>
                                          <p:spTgt spid="7">
                                            <p:txEl>
                                              <p:pRg st="7" end="7"/>
                                            </p:txEl>
                                          </p:spTgt>
                                        </p:tgtEl>
                                      </p:cBhvr>
                                    </p:animEffect>
                                    <p:anim calcmode="lin" valueType="num">
                                      <p:cBhvr>
                                        <p:cTn id="58"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9" dur="1000" fill="hold"/>
                                        <p:tgtEl>
                                          <p:spTgt spid="7">
                                            <p:txEl>
                                              <p:pRg st="7" end="7"/>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7">
                                            <p:txEl>
                                              <p:pRg st="8" end="8"/>
                                            </p:txEl>
                                          </p:spTgt>
                                        </p:tgtEl>
                                        <p:attrNameLst>
                                          <p:attrName>style.visibility</p:attrName>
                                        </p:attrNameLst>
                                      </p:cBhvr>
                                      <p:to>
                                        <p:strVal val="visible"/>
                                      </p:to>
                                    </p:set>
                                    <p:animEffect transition="in" filter="fade">
                                      <p:cBhvr>
                                        <p:cTn id="62" dur="1000"/>
                                        <p:tgtEl>
                                          <p:spTgt spid="7">
                                            <p:txEl>
                                              <p:pRg st="8" end="8"/>
                                            </p:txEl>
                                          </p:spTgt>
                                        </p:tgtEl>
                                      </p:cBhvr>
                                    </p:animEffect>
                                    <p:anim calcmode="lin" valueType="num">
                                      <p:cBhvr>
                                        <p:cTn id="63"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64" dur="1000" fill="hold"/>
                                        <p:tgtEl>
                                          <p:spTgt spid="7">
                                            <p:txEl>
                                              <p:pRg st="8" end="8"/>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7">
                                            <p:txEl>
                                              <p:pRg st="9" end="9"/>
                                            </p:txEl>
                                          </p:spTgt>
                                        </p:tgtEl>
                                        <p:attrNameLst>
                                          <p:attrName>style.visibility</p:attrName>
                                        </p:attrNameLst>
                                      </p:cBhvr>
                                      <p:to>
                                        <p:strVal val="visible"/>
                                      </p:to>
                                    </p:set>
                                    <p:animEffect transition="in" filter="fade">
                                      <p:cBhvr>
                                        <p:cTn id="67" dur="1000"/>
                                        <p:tgtEl>
                                          <p:spTgt spid="7">
                                            <p:txEl>
                                              <p:pRg st="9" end="9"/>
                                            </p:txEl>
                                          </p:spTgt>
                                        </p:tgtEl>
                                      </p:cBhvr>
                                    </p:animEffect>
                                    <p:anim calcmode="lin" valueType="num">
                                      <p:cBhvr>
                                        <p:cTn id="6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9" dur="1000" fill="hold"/>
                                        <p:tgtEl>
                                          <p:spTgt spid="7">
                                            <p:txEl>
                                              <p:pRg st="9" end="9"/>
                                            </p:txEl>
                                          </p:spTgt>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7">
                                            <p:txEl>
                                              <p:pRg st="10" end="10"/>
                                            </p:txEl>
                                          </p:spTgt>
                                        </p:tgtEl>
                                        <p:attrNameLst>
                                          <p:attrName>style.visibility</p:attrName>
                                        </p:attrNameLst>
                                      </p:cBhvr>
                                      <p:to>
                                        <p:strVal val="visible"/>
                                      </p:to>
                                    </p:set>
                                    <p:animEffect transition="in" filter="fade">
                                      <p:cBhvr>
                                        <p:cTn id="72" dur="1000"/>
                                        <p:tgtEl>
                                          <p:spTgt spid="7">
                                            <p:txEl>
                                              <p:pRg st="10" end="10"/>
                                            </p:txEl>
                                          </p:spTgt>
                                        </p:tgtEl>
                                      </p:cBhvr>
                                    </p:animEffect>
                                    <p:anim calcmode="lin" valueType="num">
                                      <p:cBhvr>
                                        <p:cTn id="7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7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460375" y="160338"/>
            <a:ext cx="2981643" cy="830997"/>
          </a:xfrm>
        </p:spPr>
        <p:txBody>
          <a:bodyPr>
            <a:normAutofit/>
          </a:bodyPr>
          <a:lstStyle/>
          <a:p>
            <a:r>
              <a:rPr lang="en-GB" sz="4300" dirty="0">
                <a:latin typeface="Times New Roman" panose="02020603050405020304" pitchFamily="18" charset="0"/>
                <a:cs typeface="Times New Roman" panose="02020603050405020304" pitchFamily="18" charset="0"/>
              </a:rPr>
              <a:t>RESULTS </a:t>
            </a:r>
            <a:endParaRPr lang="en-IN" sz="43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746204" y="1036611"/>
            <a:ext cx="2918339" cy="477520"/>
          </a:xfrm>
        </p:spPr>
        <p:txBody>
          <a:bodyPr vert="horz" lIns="91440" tIns="45720" rIns="91440" bIns="45720" rtlCol="0" anchor="t">
            <a:normAutofit/>
          </a:bodyPr>
          <a:lstStyle/>
          <a:p>
            <a:pPr marL="0" indent="0">
              <a:buNone/>
            </a:pPr>
            <a:r>
              <a:rPr lang="en-IN" sz="1800" dirty="0">
                <a:latin typeface="Times New Roman" panose="02020603050405020304" pitchFamily="18" charset="0"/>
                <a:cs typeface="Times New Roman" panose="02020603050405020304" pitchFamily="18" charset="0"/>
              </a:rPr>
              <a:t>Distribution of Crop Yield</a:t>
            </a:r>
            <a:endParaRPr lang="en-IN" sz="1800" dirty="0">
              <a:latin typeface="Times New Roman" panose="02020603050405020304" pitchFamily="18" charset="0"/>
              <a:cs typeface="Times New Roman" panose="02020603050405020304" pitchFamily="18" charset="0"/>
            </a:endParaRPr>
          </a:p>
        </p:txBody>
      </p:sp>
      <p:sp>
        <p:nvSpPr>
          <p:cNvPr id="2" name="AutoShape 2" descr="data:image/png;base64,iVBORw0KGgoAAAANSUhEUgAAA90AAAJOCAYAAACqS2TfAAAAOnRFWHRTb2Z0d2FyZQBNYXRwbG90bGliIHZlcnNpb24zLjEwLjAsIGh0dHBzOi8vbWF0cGxvdGxpYi5vcmcvlHJYcgAAAAlwSFlzAAAPYQAAD2EBqD+naQAAcxxJREFUeJzt3XlcVPX+x/H3zLAIyiIgIC5E7pq7abhlaaLZqvfeFksqs1thmZaa95Za3Ztl13bT263U+um1vZuaGrmVihuGu5ZKoSngCgKyzvn9ATMyCgrKMCyv56N5OHPO95zzOcOB5j3fc77HZBiGIQAAAAAAUOHMri4AAAAAAICaitANAAAAAICTELoBAAAAAHASQjcAAAAAAE5C6AYAAAAAwEkI3QAAAAAAOAmhGwAAAAAAJyF0AwAAAADgJIRuAAAAAACchNANAHBw1VVXyWQy2R9ms1k+Pj5q3LixbrjhBj3zzDPatGnTRdfRr18/mUwmrV69unKKvgTbPv32228O06tanZL0wAMPyGQyae7cua4uxSkWLVqkPn36yNfX136Mlff9j42N1YMPPqiWLVvK19dXnp6eatiwoW666Sa98cYbOnbsmHOKd7LnnntOJpNJHTt2VG5ubqntcnNz1bFjR5lMJj333HOSKv5YLu135lJq+vELAJeD0A0AKFGvXr0UHR2tESNG6Oabb1arVq20bds2zZgxQz169FC/fv108OBBp9ZwuR/8q6q5c+fKZDLpgQcecHUpLpGQkKBhw4YpLi5O1113nUaMGKHo6GiFhoaWafnjx4/rpptu0sCBAzV37lzl5eXphhtu0LBhw9SmTRutX79e48aN09VXX62NGzc6eW8q3pQpU9SpUydt375dU6ZMKbXd1KlTtX37dnXq1Omi7QAAVYObqwsAAFRNDz/88AXh0DAMLV26VE899ZTWrFmjnj17Ki4uThEREQ7tPv74Y2VlZalp06aVWHHpVqxYoby8PDVq1MjVpVzStGnT9Oyzz6phw4auLqXCffPNN8rLy9Pf/vY3/fOf/yzXsmlpaerdu7f27dun1q1b6/3331efPn0c2uTk5GjevHmaMmWKjh49WpGlVwp3d3d9/PHH6tatm1577TXdeuut6tmzp0ObDRs2aPr06fL09NQnn3wid3d3SVXvdw4AcA493QCAMjOZTLr55pu1adMmtWjRQikpKXr44YcvaNe0aVO1bt1a3t7eLqjyQs2aNVPr1q3tAaUqa9iwoVq3bi0/Pz9Xl1LhkpKSJEktWrQo97JPPPGE9u3bp6uuukrr1q27IHBLkqenpx555BElJCSoTZs2V1yvK7Rv314vvviiCgoKFB0draysLPu8s2fPKjo6WgUFBXrxxRd1zTXX2OdVtd85AMA5hG4AQLn5+/vrzTfflCStXLlS8fHxDvNLu740JydHr732mrp27SofHx95eHgoNDRU1157rSZMmKCTJ09KOnca9u+//y5JioiIcLjO3Lbe1atXy2QyqV+/fsrKytLkyZPVpk0beXt766qrrrJvtyynqa9Zs0YDBw5UQECAvL291b17d33yyScltr3U9bNTp06VyWTS1KlTHWp48MEHJUnz5s1z2J9+/frZ213qmtiFCxeqf//+CggIkKenp8LDw/XQQw/pl19+KbF98X1ftWqVBg4cqPr168vLy0tdunTRxx9/XOp7cjH5+fmaPXu2evbsKT8/P9WpU0ctWrTQk08+qT/++KPE92POnDmSpAcffLDEfS/NwYMHtWDBAknS66+/roCAgIu2DwkJUatWrS7Y/tSpU5WUlKSRI0eqSZMmcnd3dzibIysrS6+88oq6dOkiHx8feXt7q127dnruued06tSpC7bz22+/yWQy6aqrrlJ+fr6mT5+udu3aycvLS0FBQfrLX/6ivXv3XnL/zjd+/Hj16tVL+/fv1zPPPGOfPnHiRP3yyy/q3bu3w3Tp0sfkihUrNHToUDVs2FAeHh4KDg7WnXfeqbi4uHLXd/LkST311FMKDw+Xp6enmjZtqtGjR9t/fwEAjji9HABwWQYPHqyAgACdPHlSsbGx6tq160XbW61WDRkyRCtWrJCvr6/69Okjf39/HTt2TL/++qtee+013XvvvQoICFDz5s0VHR2tL774QpmZmRo2bJjq1atnX9f51wBnZ2erX79+2r17t/r27auOHTvqxIkTZd6Xr7/+Wu+++65at26tqKgoHTlyRGvXrtWIESOUkJCgGTNmlO/NKcGf/vQnbdiwQevWrVOzZs3Uu3dv+7zWrVtfcnnDMPTAAw/o448/lpubm/r27avg4GBt3bpVc+bM0aeffqovv/xSgwYNKnH5jz76SP/4xz/UpUsXDRo0SL/99ps2bNig6Ohoe4gqq5ycHN1yyy364YcfVKdOHd1www3y9fXV+vXr9c477+i///2vli9fri5dukiSOnXqpOjoaK1du1YHDhxQr1691Lx58zLv++LFi1VQUCB/f3/ddtttZa7zfL/++qs6d+4sDw8P9erVS4ZhKCgoSFJhkOzfv78SEhLk6+urG2+8Ue7u7lqzZo3++c9/asGCBVq5cqXDlznF3XXXXVq0aJGuv/56dejQQZs2bdLnn3+upUuX6vvvv1dkZGSZ6zSbzZo3b546duyoWbNm6Y477pC7u7veffdd1a1bV3PnzpXZXPZ+k2eeeUYzZsyQ2WxWt27d1KdPHyUlJel///ufFi1apP/85z/2L4QuJSUlRX369NGvv/6q+vXr65ZbbpHVatX8+fO1bNkytWvXrsx1AUCtYQAAUEx4eLghyZgzZ84l2w4YMMCQZNx3330O06+//npDkrFq1Sr7tDVr1hiSjM6dOxvp6ekXrGvz5s3G8ePHS6wlMTGxxO2vWrXKkGRIMjp06GAcPXr0ovt0/npsdUoyXn75ZYd5q1evNry8vAxJxrJlyy65f8VNmTLFkGRMmTLFYfqcOXMMSUZ0dHSJyxmGYURHR5f4/s+aNcuQZAQFBRk///yzfbrVarVvz9/f30hNTS1x393d3Y1FixaVWI+fn5+RlZVVak3nmzhxoiHJaNasmcN7mpuba4wcOdKQZERERBg5OTll2rdLuf/++w1Jxo033liu5Wxs74/tWM3Ozr6gzV133WVIMnr06OFwHJ45c8YYPHiwIcno2bOnwzKJiYn29QYFBRnbtm2zz8vPzzeeeOIJQ5IRHh5e4jYv5b333jMkGY0aNbL/HGfNmlVi29KOyffff9+QZDRv3tyhPsMo/J308fExPDw8jF9++cVhXmm/M3/6058MSUafPn2M06dP26efOHHC6NGjh/39KO/PGABqMk4vBwBcNlsvYVl6lVNSUiRJffr0kY+PzwXzu3XrpsDAwMuu5d133y3zKNjn69y5syZNmuQw7frrr9fjjz8uSRXS032l/vWvf0mSJk+erE6dOtmnm0wmTZkyRR06dNDp06f1n//8p8Tln3jiCd1yyy0O0x544AG1bt1aaWlp2rJlS5nqyM7O1syZMyVJb7zxhkPPr7u7u95++22FhIQoMTFRX3zxRTn2sHS2W4AFBwdf0XoCAgL07rvvytPT02F6UlKSPv/8c5lMJr3//vsOx2G9evX0n//8R3Xq1NH69eu1fv36Etf93HPPqUOHDvbXFotFr732mho1aqTff/9dX375ZbnrfeyxxzRw4ED98ccf+v333xUVFaVHH320zMtbrVb7JQ4LFy50qE+S+vbtq+eff165ubn697//fcn1HTp0SF999ZVMJpNmz57tMO5AQECAZs+eXebaAKA2IXQDAC6b1WqVVBj8LqVLly6yWCz66KOPNHPmzAodXTo4OLjEgbXKasSIESVOj46OliStXbtWBQUFl73+K3X48GEdOHDAoabiTCaT/fTgVatWlbiOW2+9tcTptgHHzr8OuzRbtmxRRkaGAgICSlynt7e37r777ovW4ioDBgwocYC6H3/8UVarVZ07d74gmEpSo0aNFBUVJan0fSrp5+Lp6am77rpLki77/tnFv/CxffFSVj///LOOHDmiZs2alXr5h+2a+tK+TCjO9j516dJFbdu2vWB+p06dSnz/AKC2I3QDAC7b8ePHJemSA1tJhSOIv/HGG8rLy9Po0aMVFhamq666Svfcc4/mz5+v3Nzcy66jtOtsy+r8W56dP/3s2bPluka8otkCcWBgoHx9fUts06xZM4e25yvtVlK29WVnZ5erltLes7LUUl4NGjSQJKWmpl7Reko7Tq50n/z9/eXv71/icrZ1Hj58uByVnlN8LIPiz8vi4MGDkqQDBw44DNxX/NG9e3dJ584muBjbPlzsfbrYPACorRhIDQBwWQzD0M8//yyp8DZHZfHEE0/oL3/5i7799lutXbtWa9eu1cKFC7Vw4UJNmTJFP/3002Xdn9rLy6vcy5SXYRhlbms7A6AqKc/AW1VN165d9cknn2jr1q0qKCiQxWK5rPVUxnFSmvIcPxXFdhyGhobae+pLY7tUBABQ8QjdAIDL8t1339lvozRw4MAyLxcSEqJRo0Zp1KhRkqS9e/fqoYceUlxcnJ599lnNmzfPKfVeTGJiYonTbbcYq1OnjsN1vh4eHpKkM2fOlLic7VZnFaVRo0aSCq+dT09PL7G329araWvrLLb1l/aeOaOWW265RePGjdPp06f17bff6s4776yQ9drY6rTVXZKL7dPp06d1+vTpEnu7bcdQ48aNr7zQcmrSpImkwjMkSrsFXXnY9v1it9672DwAqK2q79feAACXSUtL09ixYyVJN910k8PAXuXVunVrTZw4UZKUkJDgMM8WbvPz8y97/WXxf//3fyVOt93Dunfv3nJzO/c9tS187Nmz54JlsrKySr3u93L3p3HjxvbTm0sKT4Zh2KffcMMN5Vp3eXXr1k316tXTyZMn9e23314w/+zZs1q4cGGF1tKsWTPdc889kqSnn376kveDTk1N1b59+8q8/r59+8psNishIUHbtm27YP7Ro0e1bNkySaXvU0n3dM/NzdWnn34qSWW6H3lFu/baaxUUFKTdu3dr165dV7y+vn37ymQyaevWrSXef3zbtm3avn37FW8HAGoaQjcAoMwMw9DSpUvVvXt3/frrr2rYsGGpo2Wfb+XKlfruu++Ul5d3wToXL14sSQoPD3eYZ+sdrIjAcDHx8fGaPn26w7S1a9faR+m2fcFgM2DAAEnSzJkzHa7xzczM1COPPKJDhw6VuB3b/uzevbvcNT7zzDOSpJdeeskhGBqGoX/84x9KSEiQv7+//QwCZ6lTp45iYmIkFQbg4r36eXl5GjNmjJKTkxUREaE//elPFbbdd955R82bN1diYqJ69+6ttWvXXtAmNzdXH330kTp37lziFyKladq0qf785z/LMAz99a9/dbh+3/Yzzc7OVs+ePdWzZ88S1/HSSy9p586d9tdWq1UTJ07U4cOH1aRJEw0bNqwce1sx3N3dNWXKFBmGoTvvvLPE96ygoEArV67Uhg0bLrm+pk2b6s4775TVatVjjz2m9PR0+7xTp07p8ccfd8lp9ABQ1XF6OQCgRB988IF9xOWcnBwdP35cW7dutfcy9uvXTx999NEFQbk027dv19ixY+Xr66suXbooLCxMZ8+e1datW/X777/Lz89PL774osMyw4YN06pVq3Tfffdp4MCBql+/viRp/PjxatWqVYXt65NPPqlJkybp448/VocOHXTkyBH99NNPslqtGjNmjG6++WaH9n/5y1/05ptvasuWLWrXrp169+4tq9WqLVu2yMPDQw899JA++uijC7Zz3XXXKSwsTD///LO6dOmi9u3by93dXa1atdL48eMvWuNf//pXrV+/Xp988om6deum66+/XsHBwdq6dav27dsnLy8vLViwwD7omDO98MIL2rJli1asWKE2bdrohhtukI+Pj+Li4pSUlKTAwEB9/vnn9p79ilC/fn2tW7dOd911l1avXq0+ffooIiJCHTp0kLe3t1JSUrRp0yZlZGTI19dXYWFh5Vr/zJkztXfvXm3cuFHNmjXTDTfcIDc3N61Zs0bHjh1TRESE5s+fX+KyTZs2VdeuXdWlSxf169dPgYGB2rx5sw4cOKC6detqwYIFqlOnTkW8DeU2evRoJSUl6bXXXlOfPn3Url07NW/eXF5eXkpOTlZCQoJOnz6tWbNm6brrrrvk+mbOnKlt27Zp9erVioiIUL9+/WQYhlatWqXAwEDddtttJZ4BAQC1GT3dAIASrVu3TvPmzdO8efO0aNEi7d69W+3bt9fTTz+tTZs2adWqVeUaqfjWW2/V1KlTde211+rgwYP66quvtHr1avn5+enZZ5/Vzp07LzhN/bHHHtO0adMUHh6u7777Th9++KE+/PDDCr3dmCTdeeedio2NVWhoqL777jtt2rRJXbp00dy5c/Xmm29e0N7d3V2xsbEaPXq0fHx89P3332v79u268847tXXrVvu1tOfz8PDQ8uXLddttt+nw4cP6v//7P3344YdasmTJJWs0mUz6+OOPtWDBAvXu3Vvx8fH64osvlJWVpQceeEA///yzBg8efKVvRZl4enpq2bJleu+999SxY0f99NNP+vrrr+Xu7q4nnnhC27ZtK/UWVVciODhYq1at0tKlSzVixAhZLBatWLFCX3zxhXbv3q3IyEi9+eabSkxMtI/KXVaBgYFav369pk2bpoiICH3//fdavHixgoKC9Le//U3x8fGljn5uMpn02WefaerUqTp06JC+/vprnTp1SsOGDdOmTZvUu3fvCtj7yzd9+nStW7dOw4cPV0ZGhpYtW6YlS5boyJEj6tevnz744AP7rc0uJTQ0VBs3btQTTzwhb29vLV68WJs3b9bdd9+tDRs22L8YAwCcYzI4DwgAAKDcfvvtN0VERCg8PJwBxAAApaKnGwAAAAAAJyF0AwAAAADgJIRuAAAAAACchGu6AQAAAABwEnq6AQAAAABwEkI3AAAAAABO4ubqAqoDq9WqI0eOyMfHRyaTydXlAAAAAABczDAMnTlzRmFhYTKbS+/PJnSXwZEjR9SkSRNXlwEAAAAAqGIOHTqkxo0blzqf0F0GPj4+kgrfTF9fXxdXAwAAAABwtfT0dDVp0sSeF0tD6C4D2ynlvr6+hG4AAAAAgN2lLkFmIDUAAAAAAJyE0A0AAAAAgJMQugEAAAAAcBJCNwAAAAAATuLS0D1r1ix16NDBPkBZZGSkli5dap/fr18/mUwmh8ejjz7qsI6kpCQNGTJE3t7eCg4O1vjx45Wfn+/QZvXq1erSpYs8PT3VvHlzzZ07tzJ2DwAAAABQy7l09PLGjRvrlVdeUYsWLWQYhubNm6fbb79dP//8s9q1aydJGjVqlF588UX7Mt7e3vbnBQUFGjJkiEJDQ7V+/XodPXpUI0aMkLu7u15++WVJUmJiooYMGaJHH31U8+fP14oVK/Twww+rYcOGioqKqtwdBgAAAADUKibDMAxXF1FcQECAXnvtNY0cOVL9+vVTp06d9Oabb5bYdunSpbrlllt05MgRhYSESJJmz56tiRMn6tixY/Lw8NDEiRO1ZMkS7dy5077c3XffrdOnT2vZsmVlqik9PV1+fn5KS0vjlmEAAAAAgDLnxCpzTXdBQYEWLlyozMxMRUZG2qfPnz9fQUFBuuaaazRp0iRlZWXZ58XFxal9+/b2wC1JUVFRSk9P165du+xtBgwY4LCtqKgoxcXFlVpLTk6O0tPTHR4AAAAAAJSXS08vl6QdO3YoMjJS2dnZqlevnr7++mu1bdtWknTvvfcqPDxcYWFh2r59uyZOnKh9+/bpq6++kiQlJyc7BG5J9tfJyckXbZOenq6zZ8/Ky8vrgpqmTZumF154ocL3FQAAAABQu7g8dLdq1UoJCQlKS0vTF198oejoaK1Zs0Zt27bVI488Ym/Xvn17NWzYUP3799eBAwfUrFkzp9U0adIkjRs3zv46PT1dTZo0cdr2AAAAAAA1k8tPL/fw8FDz5s3VtWtXTZs2TR07dtRbb71VYtsePXpIkvbv3y9JCg0NVUpKikMb2+vQ0NCLtvH19S2xl1uSPD097SOq2x4AAAAAAJSXy0P3+axWq3Jyckqcl5CQIElq2LChJCkyMlI7duxQamqqvU1sbKx8fX3tp6hHRkZqxYoVDuuJjY11uG4cAAAAAABncOnp5ZMmTdLgwYPVtGlTnTlzRgsWLNDq1au1fPlyHThwQAsWLNDNN9+swMBAbd++XWPHjlXfvn3VoUMHSdLAgQPVtm1b3X///Zo+fbqSk5P13HPPKSYmRp6enpKkRx99VO+++64mTJighx56SCtXrtRnn32mJUuWuHLXAQAAAAC1gEtDd2pqqkaMGKGjR4/Kz89PHTp00PLly3XTTTfp0KFD+uGHH/Tmm28qMzNTTZo00bBhw/Tcc8/Zl7dYLFq8eLEee+wxRUZGqm7duoqOjna4r3dERISWLFmisWPH6q233lLjxo31wQcfcI9uAAAAAIDTVbn7dFdF3KcbAAAAAFBctbtPNwAAAAAANQ2hGwAAAAAAJyF0AwAAAADgJIRuAAAAAACchNANAAAAAICTuPSWYah4SUlJOn78eKVsKygoSE2bNq2UbQEAAABAdUTorkGSkpLUuk0bnc3KqpTteXl7a++ePQRvAAAAACgFobsGOX78uM5mZWn4xNcU0rSZU7eVknRA818dr+PHjxO6AQAAAKAUhO4aKKRpMzVu0c7VZQAAAABArcdAagAAAAAAOAmhGwAAAAAAJyF0AwAAAADgJIRuAAAAAACchNANAAAAAICTELoBAAAAAHASQjcAAAAAAE5C6AYAAAAAwEkI3QAAAAAAOAmhGwAAAAAAJyF0AwAAAADgJIRuAAAAAACchNANAAAAAICTELoBAAAAAHASQjcAAAAAAE5C6AYAAAAAwEkI3QAAAAAAOAmhGwAAAAAAJyF0AwAAAADgJIRuAAAAAACchNANAAAAAICTELoBAAAAAHASQjcAAAAAAE5C6AYAAAAAwEkI3QAAAAAAOAmhGwAAAAAAJyF0AwAAAADgJIRuAAAAAACchNANAAAAAICTELoBAAAAAHASQjcAAAAAAE5C6AYAAAAAwEkI3QAAAAAAOAmhGwAAAAAAJyF0AwAAAADgJIRuAAAAAACchNANAAAAAICTELoBAAAAAHASQjcAAAAAAE5C6AYAAAAAwEkI3QAAAAAAOAmhGwAAAAAAJyF0AwAAAADgJIRuAAAAAACchNANAAAAAICTELoBAAAAAHASQjcAAAAAAE5C6AYAAAAAwEkI3QAAAAAAOAmhGwAAAAAAJ3Fp6J41a5Y6dOggX19f+fr6KjIyUkuXLrXPz87OVkxMjAIDA1WvXj0NGzZMKSkpDutISkrSkCFD5O3treDgYI0fP175+fkObVavXq0uXbrI09NTzZs319y5cytj9wAAAAAAtZxLQ3fjxo31yiuvKD4+Xlu2bNGNN96o22+/Xbt27ZIkjR07VosWLdLnn3+uNWvW6MiRIxo6dKh9+YKCAg0ZMkS5ublav3695s2bp7lz52ry5Mn2NomJiRoyZIhuuOEGJSQk6KmnntLDDz+s5cuXV/r+AgAAAABqFzdXbvzWW291eP3Pf/5Ts2bN0oYNG9S4cWN9+OGHWrBggW688UZJ0pw5c9SmTRtt2LBB1113nb7//nvt3r1bP/zwg0JCQtSpUye99NJLmjhxoqZOnSoPDw/Nnj1bERERmjFjhiSpTZs2Wrt2rd544w1FRUVV+j4DAAAAAGqPKnNNd0FBgRYuXKjMzExFRkYqPj5eeXl5GjBggL1N69at1bRpU8XFxUmS4uLi1L59e4WEhNjbREVFKT093d5bHhcX57AOWxvbOgAAAAAAcBaX9nRL0o4dOxQZGans7GzVq1dPX3/9tdq2bauEhAR5eHjI39/foX1ISIiSk5MlScnJyQ6B2zbfNu9ibdLT03X27Fl5eXldUFNOTo5ycnLsr9PT0694PwEAAAAAtY/Le7pbtWqlhIQEbdy4UY899piio6O1e/dul9Y0bdo0+fn52R9NmjRxaT0AAAAAgOrJ5aHbw8NDzZs3V9euXTVt2jR17NhRb731lkJDQ5Wbm6vTp087tE9JSVFoaKgkKTQ09ILRzG2vL9XG19e3xF5uSZo0aZLS0tLsj0OHDlXErgIAAAAAahmXh+7zWa1W5eTkqGvXrnJ3d9eKFSvs8/bt26ekpCRFRkZKkiIjI7Vjxw6lpqba28TGxsrX11dt27a1tym+Dlsb2zpK4unpab+Nme0BAAAAAEB5ufSa7kmTJmnw4MFq2rSpzpw5owULFmj16tVavny5/Pz8NHLkSI0bN04BAQHy9fXVE088ocjISF133XWSpIEDB6pt27a6//77NX36dCUnJ+u5555TTEyMPD09JUmPPvqo3n33XU2YMEEPPfSQVq5cqc8++0xLlixx5a4DAAAAAGoBl4bu1NRUjRgxQkePHpWfn586dOig5cuX66abbpIkvfHGGzKbzRo2bJhycnIUFRWl9957z768xWLR4sWL9dhjjykyMlJ169ZVdHS0XnzxRXubiIgILVmyRGPHjtVbb72lxo0b64MPPuB2YQAAAAAAp3Np6P7www8vOr9OnTqaOXOmZs6cWWqb8PBwfffddxddT79+/fTzzz9fVo0AAAAAAFyuKndNNwAAAAAANQWhGwAAAAAAJyF0AwAAAADgJIRuAAAAAACchNANAAAAAICTELoBAAAAAHASQjcAAAAAAE5C6AYAAAAAwEkI3QAAAAAAOAmhGwAAAAAAJyF0AwAAAADgJIRuAAAAAACchNANAAAAAICTELoBAAAAAHASQjcAAAAAAE5C6AYAAAAAwEkI3QAAAAAAOAmhGwAAAAAAJyF0AwAAAADgJIRuAAAAAACchNANAAAAAICTELoBAAAAAHASQjcAAAAAAE5C6AYAAAAAwEkI3QAAAAAAOAmhGwAAAAAAJyF0AwAAAADgJIRuAAAAAACchNANAAAAAICTELoBAAAAAHASQjcAAAAAAE5C6AYAAAAAwEkI3QAAAAAAOAmhGwAAAAAAJyF0AwAAAADgJIRuAAAAAACchNANAAAAAICTELoBAAAAAHASQjcAAAAAAE5C6AYAAAAAwEkI3QAAAAAAOAmhGwAAAAAAJyF0AwAAAADgJIRuAAAAAACchNANAAAAAICTELoBAAAAAHASQjcAAAAAAE5C6AYAAAAAwEkI3QAAAAAAOAmhGwAAAAAAJyF0AwAAAADgJIRuAAAAAACchNANAAAAAICTELoBAAAAAHASQjcAAAAAAE5C6AYAAAAAwEkI3QAAAAAAOAmhGwAAAAAAJyF0AwAAAADgJC4N3dOmTdO1114rHx8fBQcH64477tC+ffsc2vTr108mk8nh8eijjzq0SUpK0pAhQ+Tt7a3g4GCNHz9e+fn5Dm1Wr16tLl26yNPTU82bN9fcuXOdvXsAAAAAgFrOpaF7zZo1iomJ0YYNGxQbG6u8vDwNHDhQmZmZDu1GjRqlo0eP2h/Tp0+3zysoKNCQIUOUm5ur9evXa968eZo7d64mT55sb5OYmKghQ4bohhtuUEJCgp566ik9/PDDWr58eaXtKwAAAACg9nFz5caXLVvm8Hru3LkKDg5WfHy8+vbta5/u7e2t0NDQEtfx/fffa/fu3frhhx8UEhKiTp066aWXXtLEiRM1depUeXh4aPbs2YqIiNCMGTMkSW3atNHatWv1xhtvKCoqynk7CAAAAACo1arUNd1paWmSpICAAIfp8+fPV1BQkK655hpNmjRJWVlZ9nlxcXFq3769QkJC7NOioqKUnp6uXbt22dsMGDDAYZ1RUVGKi4tz1q4AAAAAAODanu7irFarnnrqKfXq1UvXXHONffq9996r8PBwhYWFafv27Zo4caL27dunr776SpKUnJzsELgl2V8nJydftE16errOnj0rLy8vh3k5OTnKycmxv05PT6+4HQUAAAAA1BpVJnTHxMRo586dWrt2rcP0Rx55xP68ffv2atiwofr3768DBw6oWbNmTqll2rRpeuGFF5yybgAAAABA7VElTi8fPXq0Fi9erFWrVqlx48YXbdujRw9J0v79+yVJoaGhSklJcWhje227Dry0Nr6+vhf0ckvSpEmTlJaWZn8cOnTo8nYMAAAAAFCruTR0G4ah0aNH6+uvv9bKlSsVERFxyWUSEhIkSQ0bNpQkRUZGaseOHUpNTbW3iY2Nla+vr9q2bWtvs2LFCof1xMbGKjIyssRteHp6ytfX1+EBAAAAAEB5uTR0x8TE6P/+7/+0YMEC+fj4KDk5WcnJyTp79qwk6cCBA3rppZcUHx+v3377Td9++61GjBihvn37qkOHDpKkgQMHqm3btrr//vu1bds2LV++XM8995xiYmLk6ekpSXr00Ud18OBBTZgwQXv37tV7772nzz77TGPHjnXZvgMAAAAAaj6Xhu5Zs2YpLS1N/fr1U8OGDe2PTz/9VJLk4eGhH374QQMHDlTr1q319NNPa9iwYVq0aJF9HRaLRYsXL5bFYlFkZKTuu+8+jRgxQi+++KK9TUREhJYsWaLY2Fh17NhRM2bM0AcffMDtwgAAAAAATuXSgdQMw7jo/CZNmmjNmjWXXE94eLi+++67i7bp16+ffv7553LVBwAAAADAlagSA6kBAAAAAFATEboBAAAAAHASQjcAAAAAAE5C6AYAAAAAwEkI3QAAAAAAOAmhGwAAAAAAJyF0AwAAAADgJIRuAAAAAACchNANAAAAAICTELoBAAAAAHASQjcAAAAAAE5C6AYAAAAAwEkI3QAAAAAAOAmhGwAAAAAAJyF0AwAAAADgJIRuAAAAAACchNANAAAAAICTELoBAAAAAHASQjcAAAAAAE5C6AYAAAAAwEkI3QAAAAAAOAmhGwAAAAAAJyF0AwAAAADgJIRuAAAAAACchNANAAAAAICTELoBAAAAAHASQjcAAAAAAE5C6AYAAAAAwEkI3QAAAAAAOAmhGwAAAAAAJyF0AwAAAADgJIRuAAAAAACchNANAAAAAICTELoBAAAAAHASQjcAAAAAAE5S7tC9bNkyrV271v565syZ6tSpk+69916dOnWqQosDAAAAAKA6K3foHj9+vNLT0yVJO3bs0NNPP62bb75ZiYmJGjduXIUXCAAAAABAdeVW3gUSExPVtm1bSdKXX36pW265RS+//LK2bt2qm2++ucILBAAAAACguip3T7eHh4eysrIkST/88IMGDhwoSQoICLD3gAMAAAAAgMvo6e7du7fGjRunXr16adOmTfr0008lSb/88osaN25c4QUCAAAAAFBdlbun+91335Wbm5u++OILzZo1S40aNZIkLV26VIMGDarwAgEAAAAAqK7K3dPdtGlTLV68+ILpb7zxRoUUBAAAAABATVHu0G2Tmpqq1NRUWa1Wh+kdOnS44qIAAAAAAKgJyh264+PjFR0drT179sgwDEmSyWSSYRgymUwqKCio8CIBAAAAAKiOyh26H3roIbVs2VIffvihQkJCZDKZnFEXAAAAAADVXrlD98GDB/Xll1+qefPmzqgHAAAAAIAao9yjl/fv31/btm1zRi0AAAAAANQo5e7p/uCDDxQdHa2dO3fqmmuukbu7u8P82267rcKKAwAAAACgOit36I6Li9O6deu0dOnSC+YxkBoAAAAAAOeU+/TyJ554Qvfdd5+OHj0qq9Xq8CBwAwAAAABwTrlD94kTJzR27FiFhIQ4ox4AAAAAAGqMcofuoUOHatWqVc6oBQAAAACAGqXc13S3bNlSkyZN0tq1a9W+ffsLBlJ78sknK6w4AAAAAACqs8savbxevXpas2aN1qxZ4zDPZDIRugEAAAAAKFKu0G0YhlavXq3g4GB5eXk5qyYAAAAAAGqEcl3TbRiGWrRoocOHDzurHgAAAAAAaoxyhW6z2awWLVroxIkTzqoHAAAAAIAao9yjl7/yyisaP368du7c6Yx6AAAAAACoMco9kNqIESOUlZWljh07ysPD44Jru0+ePFlhxQEAAAAAUJ2VO3S/+eabTigDAAAAAICap9ynl0dHR1/0UR7Tpk3TtddeKx8fHwUHB+uOO+7Qvn37HNpkZ2crJiZGgYGBqlevnoYNG6aUlBSHNklJSRoyZIi8vb0VHBys8ePHKz8/36HN6tWr1aVLF3l6eqp58+aaO3dueXcdAAAAAIByKXfoLi47O1vp6ekOj/JYs2aNYmJitGHDBsXGxiovL08DBw5UZmamvc3YsWO1aNEiff7551qzZo2OHDmioUOH2ucXFBRoyJAhys3N1fr16zVv3jzNnTtXkydPtrdJTEzUkCFDdMMNNyghIUFPPfWUHn74YS1fvvxKdh8AAAAAgIsq9+nlmZmZmjhxoj777LMSRzEvKCgo87qWLVvm8Hru3LkKDg5WfHy8+vbtq7S0NH344YdasGCBbrzxRknSnDlz1KZNG23YsEHXXXedvv/+e+3evVs//PCDQkJC1KlTJ7300kuaOHGipk6dKg8PD82ePVsRERGaMWOGJKlNmzZau3at3njjDUVFRZX3LQAAAAAAoEzK3dM9YcIErVy5UrNmzZKnp6c++OADvfDCCwoLC9PHH398RcWkpaVJkgICAiRJ8fHxysvL04ABA+xtWrduraZNmyouLk6SFBcXp/bt2yskJMTeJioqSunp6dq1a5e9TfF12NrY1nG+nJycK+rBBwAAAABAuozQvWjRIr333nsaNmyY3Nzc1KdPHz333HN6+eWXNX/+/MsuxGq16qmnnlKvXr10zTXXSJKSk5Pl4eEhf39/h7YhISFKTk62tykeuG3zbfMu1iY9PV1nz569oJZp06bJz8/P/mjSpMll7xcAAAAAoPYqd+g+efKkrr76akmSr6+v/RZhvXv31o8//njZhcTExGjnzp1auHDhZa+jokyaNElpaWn2x6FDh1xdEgAAAACgGip36L766quVmJgoqfBU788++0xSYQ/4+T3SZTV69GgtXrxYq1atUuPGje3TQ0NDlZubq9OnTzu0T0lJUWhoqL3N+aOZ215fqo2vr+8F9xmXJE9PT/n6+jo8AAAAAAAor3KH7gcffFDbtm2TJD377LOaOXOm6tSpo7Fjx2r8+PHlWpdhGBo9erS+/vprrVy5UhEREQ7zu3btKnd3d61YscI+bd++fUpKSlJkZKQkKTIyUjt27FBqaqq9TWxsrHx9fdW2bVt7m+LrsLWxrQMAAAAAAGco8+jlBw8eVEREhMaOHWufNmDAAO3du1fx8fFq3ry5OnToUK6Nx8TEaMGCBfrf//4nHx8f+zXYfn5+8vLykp+fn0aOHKlx48YpICBAvr6+euKJJxQZGanrrrtOkjRw4EC1bdtW999/v6ZPn67k5GQ999xziomJkaenpyTp0Ucf1bvvvqsJEybooYce0sqVK/XZZ59pyZIl5aoXAAAAAIDyKHNPd4sWLXTs2DH767vuukspKSkKDw/X0KFDyx24JWnWrFlKS0tTv3791LBhQ/vj008/tbd54403dMstt2jYsGHq27evQkND9dVXX9nnWywWLV68WBaLRZGRkbrvvvs0YsQIvfjii/Y2ERERWrJkiWJjY9WxY0fNmDFDH3zwAbcLAwAAAAA4VZl7ug3DcHj93Xffadq0aVe08fPXWZI6depo5syZmjlzZqltwsPD9d133110Pf369dPPP/9c7hoBAAAAALhc5b6mGwAAAAAAlE2ZQ7fJZJLJZLpgGgAAAAAAKFm5Ti9/4IEH7IOTZWdn69FHH1XdunUd2hW/3hoAAAAAgNqszKE7Ojra4fV9991X4cUAAAAAAFCTlDl0z5kzx5l1AAAAAABQ4zCQGgAAAAAATkLoBgAAAADASQjdAAAAAAA4CaEbAAAAAAAnKVPo7tKli06dOiVJevHFF5WVleXUogAAAAAAqAnKFLr37NmjzMxMSdILL7ygjIwMpxYFAAAAAEBNUKZbhnXq1EkPPvigevfuLcMw9K9//Uv16tUrse3kyZMrtEAAAAAAAKqrMoXuuXPnasqUKVq8eLFMJpOWLl0qN7cLFzWZTIRuAAAAAACKlCl0t2rVSgsXLpQkmc1mrVixQsHBwU4tDAAAAACA6q5Mobs4q9XqjDoAAAAAAKhxyh26JenAgQN68803tWfPHklS27ZtNWbMGDVr1qxCiwMAAAAAoDor9326ly9frrZt22rTpk3q0KGDOnTooI0bN6pdu3aKjY11Ro0AAAAAAFRL5e7pfvbZZzV27Fi98sorF0yfOHGibrrppgorDgAAAACA6qzcPd179uzRyJEjL5j+0EMPaffu3RVSFAAAAAAANUG5Q3eDBg2UkJBwwfSEhARGNAcAAAAAoJhyn14+atQoPfLIIzp48KB69uwpSVq3bp1effVVjRs3rsILBAAAAACguip36H7++efl4+OjGTNmaNKkSZKksLAwTZ06VU8++WSFFwgAAAAAQHVV7tBtMpk0duxYjR07VmfOnJEk+fj4VHhhcC7DMLQ3+YzcLWY1D67n6nIAAAAAoEa6rPt02xC2q6ecvAIt352ixOOZkqTB14SqZQg/SwAAAACoaFcUulH9HDuToyU7jirtbJ59WuzuFPl7uyvYp44LKwMAAACAmqfco5ej+tqbnK7PthxS2tk8+dRx013dmig80Fv5VkOLtx9VVm6+q0sEAAAAgBqF0F1LHDuTo+W7UpRvNRQe6K17ujdVqF8dDW4XKn8vd53Jztd3O5JVYDVcXSoAAAAA1BjlCt15eXnq37+/fv31V2fVAyfZfTRdkhQRVFe3dQyTl7tFkuTpbtGtHcPkYTHrj9Nn9eMvx1xZJgAAAADUKOUK3e7u7tq+fbuzaoGTFFgN7UsuHGm+fSM/mU0mh/kBdT0U1S5EkrT9jzQdO5NT6TUCAAAAQE1U7tPL77vvPn344YfOqAVO8vvJTJ3NK5CXu0XhAd4ltrm6QT1dHVRXkrT/WEZllgcAAAAANVa5Ry/Pz8/XRx99pB9++EFdu3ZV3bp1Hea//vrrFVYcKsbeo4W93K1DfWQ2m0pt1zy4ng4ez9SB1AxFXh1YWeUBAAAAQI1V7tC9c+dOdenSRZL0yy+/OMwzmUoPdHCNnLwCHSy6H3frhhe/F/fVQXVlNkknMnN1KjNX9et6VEaJAAAAAFBjlTt0r1q1yhl1wEl+Tc1QgdVQYF0PNajnedG2nu4WNanvrd9PZmn/sQxdWzegkqoEAAAAgJrpsm8Ztn//fi1fvlxnz56VJBkGt5qqivYkF45a3qahb5nORGgeXE+StD+V67oBAAAA4EqVO3SfOHFC/fv3V8uWLXXzzTfr6NGjkqSRI0fq6aefrvACcfnSzubpyOlsSVKrkIufWm5zdYPCa/RTz+Qo/Wye02oDAAAAgNqg3KF77Nixcnd3V1JSkry9z42Efdddd2nZsmUVWhyuzN6iXu6mAd6qV6dsVxJ4e7ipkb+XJOkAo5gDAAAAwBUpd+j+/vvv9eqrr6px48YO01u0aKHff/+9wgrDlTEMQ3uKRi1vE1q2Xm4bTjEHAAAAgIpR7tCdmZnp0MNtc/LkSXl6XnygLlSelPQcpZ3Nk7vFpGZFIbqsmhWdYn4kLVuZOfnOKA8AAAAAaoVyh+4+ffro448/tr82mUyyWq2aPn26brjhhgotDpcv6VSWJOmqwLpyt5Tvx+xTx10hvoVfoHCKOQAAAABcvnLfMmz69Onq37+/tmzZotzcXE2YMEG7du3SyZMntW7dOmfUiMtw9HThqPJhRddnl1fzBvWUkp6jA8cy1aGxfwVWBgAAAAC1R7l7uq+55hr98ssv6t27t26//XZlZmZq6NCh+vnnn9WsWTNn1IhyMgwpOa1w1PJQvzqXtQ7bKemHT2UpO6+gwmoDAAAAgNqk3D3dkuTn56e///3vFV0LKsiZfCk73yo3s0kN6l3edfb1vT0UWNdDJzJzdehkllqU8ZZjAAAAAIBzLit0nzp1Sh9++KH27NkjSWrbtq0efPBBBQQEVGhxuDwncwpPYAjxrSOL2XTZ6wnz99KJzFwlp2cTugEAAADgMpT79PIff/xRV111ld5++22dOnVKp06d0ttvv62IiAj9+OOPzqgR5XQipzBoX+6p5Ta25W2nqgMAAAAAyqfcPd0xMTG66667NGvWLFksFklSQUGBHn/8ccXExGjHjh0VXiTK50RuYegOu9LQ7Vu4fOqZHBVYjSvqNQcAAACA2qjcPd379+/X008/bQ/ckmSxWDRu3Djt37+/QotD+Zk86+pMXuGP9Up7uut7u8vDzax8q6ETmTkVUR4AAAAA1CrlDt1dunSxX8td3J49e9SxY8cKKQqXzzOslSTJz8td3h6Xdcm+nclkst+vm1PMAQAAAKD8ypTKtm/fbn/+5JNPasyYMdq/f7+uu+46SdKGDRs0c+ZMvfLKK86pEmXm2aiNpCs/tdwm1LeODp08q+T0bHWokDUCAAAAQO1RptDdqVMnmUwmGYZhnzZhwoQL2t1777266667Kq46lJstdDf086qQ9dmu605J4/RyAAAAACivMoXuxMREZ9eBClBgNeTZsKUkqaF/BfV0F/WYn8zKVU5+gTzdLJdYAgAAAABgU6bQHR4e7uw6UAGS0vNl9vSWm8lQQF2PClmnt4ebfOu4KT07XynpOWoa4F0h6wUAAACA2uCyRto6cuSI1q5dq9TUVFmtVod5Tz75ZIUUhvLbdzxXkhTgachsqrjbe4X61lF6doaS07MJ3QAAAABQDuUO3XPnztVf//pXeXh4KDAwUKZi4c5kMhG6XWjfiTxJUqCHcYmW5RPiV0e/pGYohRHMAQAAAKBcyh26n3/+eU2ePFmTJk2S2VzuO47BifadsPV0Wy/Rsnxsg6klp2fLMAyHL1oAAAAAAKUrd2rOysrS3XffTeCuYo6dyVFyRoEMw6oAz4rt6Q728ZTZJGXlFuhMdn6FrhsAAAAAarJyJ+eRI0fq888/d0YtuAJbk05JkvKOJ8mjgr8PcbOYFVTPU1JhbzcAAAAAoGzKfXr5tGnTdMstt2jZsmVq37693N3dHea//vrrFVYcys4WunP+2CN1Davw9Yf61lHqmRwlp2erZYhPha8fAAAAAGqiywrdy5cvV6tWrSTpgoHU4Bp3dWsi48xxvTh/tXRb/wpff6hfHW3/I03JDKYGAAAAAGVW7tA9Y8YMffTRR3rggQecUA4u19UN6mlQ87r6++FdTlm/bTC11DM5KrBW7DXjAAAAAFBTlfvqX09PT/Xq1atCNv7jjz/q1ltvVVhYmEwmk7755huH+Q888IBMJpPDY9CgQQ5tTp48qeHDh8vX11f+/v4aOXKkMjIyHNps375dffr0UZ06ddSkSRNNnz69QuqvTfy93eXpZlaB1dCJzBxXlwMAAAAA1UK5Q/eYMWP0zjvvVMjGMzMz1bFjR82cObPUNoMGDdLRo0ftj//+978O84cPH65du3YpNjZWixcv1o8//qhHHnnEPj89PV0DBw5UeHi44uPj9dprr2nq1Kl6//33K2QfaguTyaSQot7ulDRCNwAAAACURblPL9+0aZNWrlypxYsXq127dhcMpPbVV1+VeV2DBw/W4MGDL9rG09NToaGhJc7bs2ePli1bps2bN6tbt26SpHfeeUc333yz/vWvfyksLEzz589Xbm6uPvroI3l4eKhdu3ZKSEjQ66+/7hDOcWkNfDyVdDJLxzNzVJ87xgEAAADAJZU7Ovn7+2vo0KG6/vrrFRQUJD8/P4dHRVu9erWCg4PVqlUrPfbYYzpx4oR9XlxcnPz9/e2BW5IGDBggs9msjRs32tv07dtXHh4e9jZRUVHat2+fTp06VeI2c3JylJ6e7vCAFFS38D08kZHr4koAAAAAoHood0/3nDlznFFHiQYNGqShQ4cqIiJCBw4c0N/+9jcNHjxYcXFxslgsSk5OVnBwsMMybm5uCggIUHJysiQpOTlZERERDm1CQkLs8+rXr3/BdqdNm6YXXnjBSXtVfQUW3av7REaODO4aBgAAAACXVO7QXZnuvvtu+/P27durQ4cOatasmVavXq3+/Sv+tlg2kyZN0rhx4+yv09PT1aRJE6dtr7qo7+0uk6TsfKuyra6uBgAAAACqvnKH7oiIiIvej/vgwYNXVNDFXH311QoKCtL+/fvVv39/hYaGKjU11aFNfn6+Tp48ab8OPDQ0VCkpKQ5tbK9Lu1bc09NTnp6eTtiD6s3NYpa/t7tOZeUpPZd7sgMAAADApZQ7dD/11FMOr/Py8vTzzz9r2bJlGj9+fEXVVaLDhw/rxIkTatiwoSQpMjJSp0+fVnx8vLp27SpJWrlypaxWq3r06GFv8/e//115eXn2Qd9iY2PVqlWrEk8tx8UF1vXUqaw8peURugEAAADgUsoduseMGVPi9JkzZ2rLli3lWldGRob2799vf52YmKiEhAQFBAQoICBAL7zwgoYNG6bQ0FAdOHBAEyZMUPPmzRUVFSVJatOmjQYNGqRRo0Zp9uzZysvL0+jRo3X33XcrLCxMknTvvffqhRde0MiRIzVx4kTt3LlTb731lt54443y7jokBdbz0P5jUjqhGwAAAAAuqcJu/DR48GB9+eWX5Vpmy5Yt6ty5szp37ixJGjdunDp37qzJkyfLYrFo+/btuu2229SyZUuNHDlSXbt21U8//eRw6vf8+fPVunVr9e/fXzfffLN69+7tcA9uPz8/ff/990pMTFTXrl319NNPa/Lkydwu7DIF1iscwZzQDQAAAACXVmEDqX3xxRcKCAgo1zL9+vWTYRilzl++fPkl1xEQEKAFCxZctE2HDh30008/las2lCyobuEXHoWhm+ANAAAAABdT7tDduXNnh4HUDMNQcnKyjh07pvfee69Ci0PV4+flLovZpAKr5OYf4upyAAAAAKBKK3fovuOOOxxem81mNWjQQP369VPr1q0rqi5UUWazSQHeHjqWkSP3oHBXlwMAAAAAVVq5Q/eUKVOcUQeqkcB6RaG7AaEbAAAAAC6mwgZSQ+1hG0zNg55uAAAAALioMvd0m81mh2u5S2IymZSfn3/FRaFqCywaTM29wVWuLQQAAAAAqrgyh+6vv/661HlxcXF6++23ZbVaK6QoVG22nm73gEbKKyh99HkAAAAAqO3KHLpvv/32C6bt27dPzz77rBYtWqThw4frxRdfrNDiUDX5eLrJzWQo3+KmIxmc2QAAAAAApbmsa7qPHDmiUaNGqX379srPz1dCQoLmzZun8HCu8a0NTCaT/NwLe7gPpRG6AQAAAKA05QrdaWlpmjhxopo3b65du3ZpxYoVWrRoka655hpn1YcqytejMHT/npbn4koAAAAAoOoq8+nl06dP16uvvqrQ0FD997//LfF0c9QevkU93Un0dAMAAABAqcocup999ll5eXmpefPmmjdvnubNm1diu6+++qrCikPVRegGAAAAgEsrc+geMWLEJW8ZhtrDdk13SmaBsnLz5e1R5kMJAAAAAGqNMieluXPnOrEMVDeeFqkg45Qs9err15QMdWzi7+qSAAAAAKDKuazRywFJyj3+uyRpX/IZF1cCAAAAAFUToRuXLc8WulMI3QAAAABQEkI3Llve8UOSpAPHMlxcCQAAAABUTYRuXLa8k4clSQePZbq4EgAAAAComgjduGx5JwpD96FTWcrOK3BxNQAAAABQ9RC6cdmsWafl7W6SYUi/naC3GwAAAADOR+jGFWnkU3jXuQOphG4AAAAAOB+hG1eksW9h6D7IYGoAAAAAcAFCN66Ivaeb0A0AAAAAFyB044qE2UM3p5cDAAAAwPkI3bgijX0tkgpPLzcMw8XVAAAAAEDVQujGFQmp6yaL2aTM3AKlpOe4uhwAAAAAqFII3bgi7haTwgO8JXFdNwAAAACcj9CNK3Z1g7qSCN0AAAAAcD5CN65Yswb1JEkHUgndAAAAAFAcoRtXzBa6Dx5nBHMAAAAAKI7QjSvWLLjo9HJ6ugEAAADAAaEbV+zqoMKe7iNp2crKzXdxNQAAAABQdRC6ccXq1/VQQF0PSdLBY5xiDgAAAAA2hG5UiGaMYA4AAAAAFyB0o0LYRzCnpxsAAAAA7AjdqBDcqxsAAAAALkToRoWw3zaMnm4AAAAAsCN0o0KcC90ZsloNF1cDAAAAAFUDoRsVonF9L3lYzMrJt+qP02ddXQ4AAAAAVAmEblQIN4tZ4YHekriuGwAAAABsCN2oMFzXDQAAAACOCN2oMM2CGcEcAAAAAIojdKPCnLtXN6EbAAAAACRCNyrQ1fbQzenlAAAAACARulGBrm5QeHr5sTM5Ss/Oc3E1AAAAAOB6hG5UGN867gr28ZTEYGoAAAAAIBG6UcHs13Wncl03AAAAABC6UaFsp5gfPE7oBgAAAABCNyrUuZ5uTi8HAAAAAEI3KlSzYG4bBgAAAAA2hG5UqGZFp5f/diJT+QVWF1cDAAAAAK5F6EaFCvPzUh13s/IKDB0+ddbV5QAAAACASxG6UaHMZpMigjjFHAAAAAAkQjecwHaKOaEbAAAAQG1H6EaFYwRzAAAAAChE6EaF417dAAAAAFCI0I0KZ+/pPkZPNwAAAIDajdCNCmfr6T6ZmauTmbkurgYAAAAAXIfQjQrn7eGmRv5ekqSDDKYGAAAAoBYjdMMp7Nd1c4o5AAAAgFrMpaH7xx9/1K233qqwsDCZTCZ98803DvMNw9DkyZPVsGFDeXl5acCAAfr1118d2pw8eVLDhw+Xr6+v/P39NXLkSGVkOPaubt++XX369FGdOnXUpEkTTZ8+3dm7Vuudu66bnm4AAAAAtZdLQ3dmZqY6duyomTNnljh/+vTpevvttzV79mxt3LhRdevWVVRUlLKzs+1thg8frl27dik2NlaLFy/Wjz/+qEceecQ+Pz09XQMHDlR4eLji4+P12muvaerUqXr//fedvn+1GffqBgAAAADJzZUbHzx4sAYPHlziPMMw9Oabb+q5557T7bffLkn6+OOPFRISom+++UZ333239uzZo2XLlmnz5s3q1q2bJOmdd97RzTffrH/9618KCwvT/PnzlZubq48++kgeHh5q166dEhIS9PrrrzuEc1QsRjAHAAAAgCp8TXdiYqKSk5M1YMAA+zQ/Pz/16NFDcXFxkqS4uDj5+/vbA7ckDRgwQGazWRs3brS36du3rzw8POxtoqKitG/fPp06darEbefk5Cg9Pd3hgfK5uih0J53MUm6+1cXVAAAAAIBrVNnQnZycLEkKCQlxmB4SEmKfl5ycrODgYIf5bm5uCggIcGhT0jqKb+N806ZNk5+fn/3RpEmTK9+hWibE11N1PSwqsBpKOklvNwAAAIDaqcqGbleaNGmS0tLS7I9Dhw65uqRqx2QyqVlwYW/3/lRCNwAAAIDaqcqG7tDQUElSSkqKw/SUlBT7vNDQUKWmpjrMz8/P18mTJx3alLSO4ts4n6enp3x9fR0eKL+rg4puG3acwdQAAAAA1E5VNnRHREQoNDRUK1assE9LT0/Xxo0bFRkZKUmKjIzU6dOnFR8fb2+zcuVKWa1W9ejRw97mxx9/VF5enr1NbGysWrVqpfr161fS3tRO9sHU6OkGAAAAUEu5NHRnZGQoISFBCQkJkgoHT0tISFBSUpJMJpOeeuop/eMf/9C3336rHTt2aMSIEQoLC9Mdd9whSWrTpo0GDRqkUaNGadOmTVq3bp1Gjx6tu+++W2FhYZKke++9Vx4eHho5cqR27dqlTz/9VG+99ZbGjRvnor2uPWynl3PbMAAAAAC1lUtvGbZlyxbdcMMN9te2IBwdHa25c+dqwoQJyszM1COPPKLTp0+rd+/eWrZsmerUqWNfZv78+Ro9erT69+8vs9msYcOG6e2337bP9/Pz0/fff6+YmBh17dpVQUFBmjx5MrcLqwTnbhuWIcMwZDKZXFwRAAAAAFQul4bufv36yTCMUuebTCa9+OKLevHFF0ttExAQoAULFlx0Ox06dNBPP/102XXi8oQHestkks5k5+t4Rq4a+Hi6uiQAAAAAqFRV9ppuVH913C1qUt9bEqeYAwAAAKidCN1wqmYNCkcwJ3QDAAAAqI0I3XAqRjAHAAAAUJsRuuFUVxeFbu7VDQAAAKA2InTDqTi9HAAAAEBtRuiGU9nu1X341Fll5xW4uBoAAAAAqFyEbjhVYF0P+Xm5yzCkxONc1w0AAACgdiF0w6lMJpOuLjrF/OAxQjcAAACA2oXQDaezj2DOdd0AAAAAahlCN5yO0A0AAACgtiJ0w+kYwRwAAABAbUXohtPZ79V9LFOGYbi4GgAAAACoPIRuOF14oLfczCZl5RYoOT3b1eUAAAAAQKUhdMPp3C1mNQ30liQdSGUEcwAAAAC1B6EblcI2mNrB41zXDQAAAKD2IHSjUtju1X0gldANAAAAoPYgdKNSnLttGKeXAwAAAKg9CN2oFNyrGwAAAEBtROhGpbDdq/toWrYyc/JdXA0AAAAAVA5CNyqFv7eHAut6SJISj3OKOQAAAIDagdCNSsMp5gAAAABqG0I3Kk2zYEYwBwAAAFC7ELpRaew93ZxeDgAAAKCWIHSj0nCvbgAAAAC1DaEblcbW033weKYKrIaLqwEAAAAA5yN0o9I0ru+tOu5m5eZb9fsJTjEHAAAAUPMRulFpLGaTWob4SJJ+STnj4moAAAAAwPkI3ahUttC9N5nQDQAAAKDmI3SjUrUOpacbAAAAQO1B6EaloqcbAAAAQG1C6EalsvV0/3Y8U9l5BS6uBgAAAACci9CNStXAx1P+3u6yGtJ+7tcNAAAAoIYjdKNSmUwmtWIEcwAAAAC1BKEbla5V0Snm+7iuGwAAAEANR+hGpbOHbnq6AQAAANRwhG5UOtvp5fR0AwAAAKjpCN2odC2LerqPpmUr7Wyei6sBAAAAAOchdKPS+dZxV5hfHUkMpgYAAACgZiN0wyUYTA0AAABAbUDohku0JHQDAAAAqAUI3XCJ1oxgDgAAAKAWIHTDJVoWG8HcMAwXVwMAAAAAzkHohks0a1BPFrNJaWfzlHomx9XlAAAAAIBTELrhEnXcLboq0FuStJfrugEAAADUUIRuuEzrUF9J0i+EbgAAAAA1FKEbLmO7rpuebgAAAAA1FaEbLmO7V/cvjGAOAAAAoIYidMNliofuAisjmAMAAACoeQjdcJmmAd7ycrcoJ9+qxOOZri4HAAAAACocoRsuYzGb1DascDC1nX+kubgaAAAAAKh4hG64VPtGfpKkHYRuAAAAADUQoRsudY0tdB8mdAMAAACoeQjdcKkOjQtD964jabIymBoAAACAGobQDZdq1qCevNwtyswt0EEGUwMAAABQwxC64VLFB1Pb8cdp1xYDAAAAABWM0A2Xsw+mdjjdxZUAAAAAQMUidMPlbKGb24YBAAAAqGkI3XA522BqO4+kqYDB1AAAAADUIIRuuNzVDerJ28OirNwCJR7PcHU5AAAAAFBhqnTonjp1qkwmk8OjdevW9vnZ2dmKiYlRYGCg6tWrp2HDhiklJcVhHUlJSRoyZIi8vb0VHBys8ePHKz8/v7J3BRdhMZvUtqFtMDVOMQcAAABQc1Tp0C1J7dq109GjR+2PtWvX2ueNHTtWixYt0ueff641a9boyJEjGjp0qH1+QUGBhgwZotzcXK1fv17z5s3T3LlzNXnyZFfsCi6ifdEp5tsPE7oBAAAA1Bxuri7gUtzc3BQaGnrB9LS0NH344YdasGCBbrzxRknSnDlz1KZNG23YsEHXXXedvv/+e+3evVs//PCDQkJC1KlTJ7300kuaOHGipk6dKg8Pj8reHZSCwdQAAAAA1ERVvqf7119/VVhYmK6++moNHz5cSUlJkqT4+Hjl5eVpwIAB9ratW7dW06ZNFRcXJ0mKi4tT+/btFRISYm8TFRWl9PR07dq1q3J3BBdlG0xt15F0BlMDAAAAUGNU6dDdo0cPzZ07V8uWLdOsWbOUmJioPn366MyZM0pOTpaHh4f8/f0dlgkJCVFycrIkKTk52SFw2+bb5pUmJydH6enpDg84V0TQucHUDh5jMDUAAAAANUOVPr188ODB9ucdOnRQjx49FB4ers8++0xeXl5O2+60adP0wgsvOG39uJDFbFK7MF9t/u2UdvyRphYhPq4uCQAAAACuWJXu6T6fv7+/WrZsqf379ys0NFS5ubk6ffq0Q5uUlBT7NeChoaEXjGZue13SdeI2kyZNUlpamv1x6NChit0RlKh9I39JDKYGAAAAoOaoVqE7IyNDBw4cUMOGDdW1a1e5u7trxYoV9vn79u1TUlKSIiMjJUmRkZHasWOHUlNT7W1iY2Pl6+urtm3blrodT09P+fr6OjzgfO0bF77PDKYGAAAAoKao0qeXP/PMM7r11lsVHh6uI0eOaMqUKbJYLLrnnnvk5+enkSNHaty4cQoICJCvr6+eeOIJRUZG6rrrrpMkDRw4UG3bttX999+v6dOnKzk5Wc8995xiYmLk6enp4r3D+WwjmNsGU7OYTS6uCAAAAACuTJUO3YcPH9Y999yjEydOqEGDBurdu7c2bNigBg0aSJLeeOMNmc1mDRs2TDk5OYqKitJ7771nX95isWjx4sV67LHHFBkZqbp16yo6Olovvviiq3YJFxERVE91PSzKzC3QgWMZasl13QAAAACquSoduhcuXHjR+XXq1NHMmTM1c+bMUtuEh4fru+++q+jS4AQWs0ntG/tpw8GTiv/9FKEbAAAAQLVXra7pRs3XPSJQkrQp8aSLKwEAAACAK0foRpXSIyJAEqEbAAAAQM1A6EaV0rmpv9zMJv1x+qwOn8pydTkAAAAAcEUI3ahSvD3c1L5x4Sjm9HYDAAAAqO4I3ahyunOKOQAAAIAagtCNKofrugEAAADUFIRuVDldwwNkMkkHj2cq9Uy2q8sBAAAAgMtG6EaV4+flrjahvpKkzYmnXFwNAAAAAFw+QjeqpHPXdZ9wcSUAAAAAcPkI3aiSbNd1b+S6bgAAAADVGKEbVdK1RaF7X8oZnc7KdXE1AAAAAHB5CN2okoLqeapZg7oyDGnLb1zXDQAAAKB6InSjyuoeEShJ2vQbp5gDAAAAqJ4I3aiyuK4bAAAAQHVH6EaVZRvBfOcfacrMyXdxNQAAAABQfoRuVFlh/l5qXN9LBVZD8b9zXTcAAACA6ofQjSot8urC67rX/HLMxZUAAAAAQPkRulGl9W8TIkn6YU+KDMNwcTUAAAAAUD6EblRpfVoEycPNrN9PZOnX1AxXlwMAAAAA5ULoRpVW19NNvZoVnmIeuzvFxdUAAAAAQPkQulHlDWh77hRzAAAAAKhOCN2o8vq3LgzdCYdOK/VMtourAQAAAICyI3Sjygv1q6MOjf1kGNKqvamuLgcAAAAAyozQjWphQNEo5rG7Cd0AAAAAqg9CN6oFW+heu/+YzuYWuLgaAAAAACgbN1cXgOptz549lbKdwMBANfL30h+nz2rd/uP2wdUAAAAAoCojdOOypJ88Jkm67777KmV7Xt7eevT9Ffrq9Fn9sCeF0A0AAACgWiB047KczUiXJA3569/VqkNXp24rJemA5r86Xu0DDH0l6Yc9qbJaDZnNJqduFwAAAACuFKEbVyQwLFyNW7SrlG21DfKQj6ebjmfkaNvh0+rctH6lbBcAAAAALhcDqaHacLeYdH2rBpKk73YcdXE1AAAAAHBphG5UK7d1DJMkfbn1D+XkM4o5AAAAgKqN0I1q5cbWwQrx9dTJzFx9vyvF1eUAAAAAwEURulGtuFnMuqtbE0nSfzclubgaAAAAALg4Qjeqnb9c20Qmk7T+wAklHs90dTkAAAAAUCpCN6qdxvW91a9l4YBqCzfT2w0AAACg6iJ0o1q6p3tTSdIXWw4rN9/q4moAAAAAoGSEblRLtgHVTmTm6vvdya4uBwAAAABKROhGtcSAagAAAACqA0I3qi3bgGrr9p/QbwyoBgAAAKAKInSj2io+oNr8jb+7uBoAAAAAuBChG9XaiMirJEmfbPhdyWnZri0GAAAAAM5D6Ea11q9VA117VX1l51n1Ruwvri4HAAAAABwQulGtmUwmPTu4jSTp8/hD+iXljIsrAgAAAIBzCN2o9rqG19egdqGyGtKrS/e6uhwAAAAAsCN0o0YYP6iVLGaTVuxN1caDJ1xdDgAAAABIInSjhmjWoJ7u6V543+6Xl+6VYRgurggAAAAACN2oQcb0bylvD4u2HTqt73Yku7ocAAAAACB0o+Zo4OOpUX2uliS9uHiXjmfkuLgiAAAAALUdoRs1yl+vv1rNGtRVSnqOxiz8WQVWTjMHAAAA4DqEbtQo3h5umn1fV3l7WLRu/wm9+QP37gYAAADgOoRu1DgtQnw0bWh7SdI7K/dr1d5UF1cEAAAAoLYidKNGur1TI42IDJckPfVpgg6dzHJxRQAAAABqI0I3aqy/D2mjjk38lXY2T6M+3qLUM9muLgkAAABALUPoRo3l6WbRe8O7KKieh/Ymn9HQ99brwLEMV5cFAAAAoBYhdKNGa+TvpS8f66mrAr11+NRZDZu1XvG/n3R1WQAAAABqCUI3arzwwLr68rGe6tTEX6ez8nTvfzZq6Y6jri4LAAAAQC1A6EatEFjPU/8ddZ0GtAlWTr5Vj83fqkc/iWeANQAAAABORehGreHlYdHs+7rqkb5Xy2I2admuZPV/fY1mfL9PWbn5ri4PAAAAQA1E6Eat4mYx6283t9F3T/ZRz2aBys236p2V+3X9a6s1beke/ZpyxtUlAgAAAKhB3FxdQGWaOXOmXnvtNSUnJ6tjx45655131L17d1eXBRdoFeqj+Q/30PJdyfrHkj06fOqs/r3moP695qA6NPbTHZ0aqWfzQLUI9pHFbHJ1uQCqoaSkJB0/frxMbQ3DUIEhFVglq/154b9WQ8q3GrIWm1Y43ZAK/5Mk5ebmyd3dvXB9RQ/bzMLXhsNrSTKZJLPJJItJMpski8lU+K+5cLr5gumF/wYHBeqq8KYym0xyM5tk5u8kAAClqjWh+9NPP9W4ceM0e/Zs9ejRQ2+++aaioqK0b98+BQcHu7o8uIDJZNKgaxrqxtYhWrk3RV/E/6HV+1K1/XCath9OkyT5eLqpU1N/dWlaX1c3qKvwwLoKD/CWv7e7TCY+ZKL8rFZD+VajKDwZKigo/DffapXVKuVbrYXzirXJLzD0x5GjOnn6tKzFQ1lR8CoMauemF59WYBhFyxQ9v+hyhaEuN79AJrOlMNRJRcHLJJNsIU0y6VwgM5kkk86FtJJe29Zhtq+v8HfQ16eeGgQFFga/ovBmD3lmU9F027pM9i/BCvNm4f4YhlEYKg1DRtF+lDhNtueF72mB1VCe1ar8AkN5BVb7zyWvoGha0byLTis2r/j6zmbnaO8vv8iQSTJbZDJbJLObTGbzudcm23Rz4b/VSoqk3fZXZpPkZjbLYjbJzVIYxC1ms9wcXpvkZjaX+LrweeEyZlPRlwS2bwZkKCvrrHJyc4teyeHLhuI/Z9ty1qJp1mLT7PPsx0bhcSE5TjOZLTJbLIXL2Ndh2I9Bk/3LB5P9Swv770ixLydMxabbjnfba9vy7haTcnOylZ+XK7ei5dzMhce/pehfN3PhdIvp3L+F79W5dm7F2pqLLWNbp61tUEB9NWkcJnfbz8Fy7mfgbjbLbC783bb97832fznb/+9sfwNs02zvz/l/t/KthpIOHdbxEydVYD33d8f2N8hqLf73yCh6XfhzsNp/X8+9/4U/o8JpxX+/rUXfLplMkrUgXx7u7kV/L0r+0ujc+1/4HrqZJfdi77mbffq597AkQUFBatq0afl/bQDUWrUmdL/++usaNWqUHnzwQUnS7NmztWTJEn300Ud69tlnXVwdXMnDzaxB1zTUoGsa6nhGjr5NOKIVe1P0c9JpncnJ10+/HtdPvzr2VvnUcVMDH08FeHsooK6HAut5yNvDTXXczfJyt6iOu0We7pai52bVcbPI3c1s/x+//cOXufjr4h/QCj/0WI1zIcEWjgz7h5ZzgcNqb3OR9kX/Hjt2XOlnzkg69yFVOvfhpXgPma13zN7uvPnWS7y3+fn5cnMr+jNz7hP0JZW9pRw+PNfx8paPr1/Rhzjj3L+2gFv03Gp/rnPPi7U9N03nlrcFYGthu7PZOcrJy3f4kFhwftgtFmRtHzpxvjRJf7i6CKdwC7zyD+WmwtheGO5U/AsN2/xCeTnZyspIk7ePvzw8Pc9bR8nPpXO/z4ZRwnNbeLVPK/2LRqsh5RZYpQJJeZe3r1VHgasLcKLjkn51dRHVhmEtkKwFMgryZRTkySjIl6z5krVALZpFyMvTU+5uZnlYTHK3mIs9zr32cCt9nrvFJA+3kue5WUxFX6oUfdFT7IvIc2edmIp9iaNzX1SaTDKbz33BY1++aB329uctT2cC4Dy1InTn5uYqPj5ekyZNsk8zm80aMGCA4uLiXFgZymPPnj2Vsp1O3lKbdobcOjXQ72n52nc8V/tP5Sk5I1/JGQU6lW3Vmex8ncnO10FlVkpNKKszKuyBq34Mw1r44c5aIFmt9teFzwv/9fbxk4eHR1EIM+zhyxbKTHJ8bnaYVrb2J478rv0JG9Sya281CA0rrM1eo+m83sXzexsv8toh1BWuJzP9lI7+fkAmk7koVZqLnhc97K9NkqmoN9hkPreFwq7IwvdKkgxr0QatRV8QGeemFWtjGJKs+ec+UFvzpYLCf4t/yLbPK/q5OE6zFn4QtxY4rqvAcb23PTJJV7Vqe16vZ0k9pOfmFf9irqwfguNXfKv5/x6vES+8r06R15dpmcthGIZ2bVyjOS8+UfQzKt5b71b03HJl/9rDvVF8w+rc/3Y1CG3kUM+5ntjzXxsXfNlQvI2p6IlJjtOOJO7Vj1/NczheHL4wLDoeTWazpGLHpslkf17atHPHdtHzovdMZos63nCb6gc3LNaTa5LV9vz8f+09+ZduYy36XTMMKTcvTznZZ+3vs8nsJlkshbU4gWEtsIc8hy+OVOzvj/1f44J5Ov95sWm217ZpGWkndexIkoIaXy3ver5F709JXySZLnivrPb36sIvluzHpZvHBfuXeDJHUs6Vvk1Viv3/EcXPTir2/4dzf6tKn3/+8ufmnb984ZlPhmGVxWy2F3D+z1smx9emYo0u3fbc8SJJVmuxbVWg0r5Pt1qtMl/h9gr3weSwL8W/dDUV/THz9qojH5969jNVzLazU0znzkwzmc6tS8V+PsXbqIRptuUKt21y+P09tx2TwzT7765te5faz4s0quvhpjs6Nyq9QTVRK0L38ePHVVBQoJCQEIfpISEh2rt37wXtc3JylJNz7g9pWlqaJCk9Pd25hV6hjIwMSdLhX3cp56xzb4WVknRAkpT82y86UNfbqdv6bc/PkqT77rvPqdspM4uH3HwbyOztJ4uXj8xePrJ4+cnk7imTm4dM7p6SxV1mN0+Z3N1lcvOUyeIpk8Vi+8t17kOXin8gM9mDhlQ43zCs5z70GVYZhmF/XthTXSxQFPVq24KIVNRe1nPTitr4NQiVp2cdnf8Rw3Te/zoK5xmOr43i8xznF5d55rROHj2swEbh8q7rc0Vv+aWYJJ3NOK3UQwcLz1s0CmRYrUXvmbVomtU+zR5qbfON4kHXuHC54oHYMIpCcIHaXddfAQ1Cimoo/HhnKnpuMgz7+1nYW2nY309TsWnnXpcu6Zcdiv/hfxr44DNq0a6T095HSbKe3K20dQtUv2WYIpr6OnVb+/bFafuXs3Xt4LvUOKKFU7clnXsfHbdnkuRe9Kj4baUd2KqsOpc6J+TKVebf5KQ9P8vIz630n5tX1w5q2Miv4lZc0p+uE78r98jeSt+3up3bKbyRc/9O7otfqx/+e+Hvm+2vUPG/WCUp+S+96cK/fTJ0qBL/ZknSvl82aNdns9XpwWfUIuzyt2cUC+P2Ly5UPJib9MfBfVq3eKFkcZPJ4l70xYnZ/txkKfoyw+Imk9m9MLRb3IrNK/rXZLE/P3+eyVT03PaZwWw59xnB9oWO2ez42mSSTOe3K/pMYf/McWk1+TwPVE/B9dx1YzPn/n28ErZ8aFzijE6TcakWNcCRI0fUqFEjrV+/XpGRkfbpEyZM0Jo1a7Rx40aH9lOnTtULL7xQ2WUCAAAAAKqZQ4cOqXHjxqXOrxU93UFBQbJYLEpJcTztNCUlRaGhoRe0nzRpksaNG2d/bbVadfLkSQUGBla5613S09PVpEkTHTp0SL6+zu2VAi6GYxFVBcciqgqORVQFHIeoKmrisWgYhs6cOaOwsLCLtqsVodvDw0Ndu3bVihUrdMcdd0gqDNIrVqzQ6NGjL2jv6ekpz/MGovH396+ESi+fr69vjTl4Ub1xLKKq4FhEVcGxiKqA4xBVRU07Fv38Ln3pU60I3ZI0btw4RUdHq1u3burevbvefPNNZWZm2kczBwAAAACgotWa0H3XXXfp2LFjmjx5spKTk9WpUyctW7bsgsHVAAAAAACoKLUmdEvS6NGjSzydvDrz9PTUlClTLjgdHqhsHIuoKjgWUVVwLKIq4DhEVVGbj8VaMXo5AAAAAACuUPF3iAcAAAAAAJII3QAAAAAAOA2hGwAAAAAAJyF0V3MzZ87UVVddpTp16qhHjx7atGmTq0tCDTZt2jRde+218vHxUXBwsO644w7t27fPoU12drZiYmIUGBioevXqadiwYUpJSXFRxagtXnnlFZlMJj311FP2aRyLqCx//PGH7rvvPgUGBsrLy0vt27fXli1b7PMNw9DkyZPVsGFDeXl5acCAAfr1119dWDFqooKCAj3//POKiIiQl5eXmjVrppdeeknFh2/iWERF+/HHH3XrrbcqLCxMJpNJ33zzjcP8shxzJ0+e1PDhw+Xr6yt/f3+NHDlSGRkZlbgXzkforsY+/fRTjRs3TlOmTNHWrVvVsWNHRUVFKTU11dWloYZas2aNYmJitGHDBsXGxiovL08DBw5UZmamvc3YsWO1aNEiff7551qzZo2OHDmioUOHurBq1HSbN2/Wv//9b3Xo0MFhOsciKsOpU6fUq1cvubu7a+nSpdq9e7dmzJih+vXr29tMnz5db7/9tmbPnq2NGzeqbt26ioqKUnZ2tgsrR03z6quvatasWXr33Xe1Z88evfrqq5o+fbreeecdexuORVS0zMxMdezYUTNnzixxflmOueHDh2vXrl2KjY3V4sWL9eOPP+qRRx6prF2oHAaqre7duxsxMTH21wUFBUZYWJgxbdo0F1aF2iQ1NdWQZKxZs8YwDMM4ffq04e7ubnz++ef2Nnv27DEkGXFxca4qEzXYmTNnjBYtWhixsbHG9ddfb4wZM8YwDI5FVJ6JEycavXv3LnW+1Wo1QkNDjddee80+7fTp04anp6fx3//+tzJKRC0xZMgQ46GHHnKYNnToUGP48OGGYXAswvkkGV9//bX9dVmOud27dxuSjM2bN9vbLF261DCZTMYff/xRabU7Gz3d1VRubq7i4+M1YMAA+zSz2awBAwYoLi7OhZWhNklLS5MkBQQESJLi4+OVl5fncFy2bt1aTZs25biEU8TExGjIkCEOx5zEsYjK8+2336pbt27685//rODgYHXu3Fn/+c9/7PMTExOVnJzscCz6+fmpR48eHIuoUD179tSKFSv0yy+/SJK2bdumtWvXavDgwZI4FlH5ynLMxcXFyd/fX926dbO3GTBggMxmszZu3FjpNTuLm6sLwOU5fvy4CgoKFBIS4jA9JCREe/fudVFVqE2sVqueeuop9erVS9dcc40kKTk5WR4eHvL393doGxISouTkZBdUiZps4cKF2rp1qzZv3nzBPI5FVJaDBw9q1qxZGjdunP72t79p8+bNevLJJ+Xh4aHo6Gj78VbS/685FlGRnn32WaWnp6t169ayWCwqKCjQP//5Tw0fPlySOBZR6cpyzCUnJys4ONhhvpubmwICAmrUcUnoBnBZYmJitHPnTq1du9bVpaAWOnTokMaMGaPY2FjVqVPH1eWgFrNarerWrZtefvllSVLnzp21c+dOzZ49W9HR0S6uDrXJZ599pvnz52vBggVq166dEhIS9NRTTyksLIxjEXAxTi+vpoKCgmSxWC4YiTclJUWhoaEuqgq1xejRo7V48WKtWrVKjRs3tk8PDQ1Vbm6uTp8+7dCe4xIVLT4+XqmpqerSpYvc3Nzk5uamNWvW6O2335abm5tCQkI4FlEpGjZsqLZt2zpMa9OmjZKSkiTJfrzx/2s42/jx4/Xss8/q7rvvVvv27XX//fdr7NixmjZtmiSORVS+shxzoaGhFwwCnZ+fr5MnT9ao45LQXU15eHioa9euWrFihX2a1WrVihUrFBkZ6cLKUJMZhqHRo0fr66+/1sqVKxUREeEwv2vXrnJ3d3c4Lvft26ekpCSOS1So/v37a8eOHUpISLA/unXrpuHDh9ufcyyiMvTq1euCWyf+8ssvCg8PlyRFREQoNDTU4VhMT0/Xxo0bORZRobKysmQ2O360t1gsslqtkjgWUfnKcsxFRkbq9OnTio+Pt7dZuXKlrFarevToUek1Owunl1dj48aNU3R0tLp166bu3bvrzTffVGZmph588EFXl4YaKiYmRgsWLND//vc/+fj42K+18fPzk5eXl/z8/DRy5EiNGzdOAQEB8vX11RNPPKHIyEhdd911Lq4eNYmPj499LAGbunXrKjAw0D6dYxGVYezYserZs6defvll/eUvf9GmTZv0/vvv6/3335ck+/3j//GPf6hFixaKiIjQ888/r7CwMN1xxx2uLR41yq233qp//vOfatq0qdq1a6eff/5Zr7/+uh566CFJHItwjoyMDO3fv9/+OjExUQkJCQoICFDTpk0vecy1adNGgwYN0qhRozR79mzl5eVp9OjRuvvuuxUWFuaivXICVw+fjivzzjvvGE2bNjU8PDyM7t27Gxs2bHB1SajBJJX4mDNnjr3N2bNnjccff9yoX7++4e3tbdx5553G0aNHXVc0ao3itwwzDI5FVJ5FixYZ11xzjeHp6Wm0bt3aeP/99x3mW61W4/nnnzdCQkIMT09Po3///sa+fftcVC1qqvT0dGPMmDFG06ZNjTp16hhXX3218fe//93Iycmxt+FYREVbtWpViZ8No6OjDcMo2zF34sQJ45577jHq1atn+Pr6Gg8++KBx5swZF+yN85gMwzBclPcBAAAAAKjRuKYbAAAAAAAnIXQDAAAAAOAkhG4AAAAAAJyE0A0AAAAAgJMQugEAAAAAcBJCNwAAAAAATkLoBgAAAADASQjdAAAAAAA4CaEbAFBrXHXVVXrzzTfL3H7q1Knq1KnTRds88MADuuOOOy65rvvvv18vv/xymbeN2unZZ5/VE0884eoyAAAViNANAKgRDMPQgAEDFBUVdcG89957T/7+/vrpp5/0yCOPVHpt27Zt03fffacnn3xSv/32m0wm00Ufc+fOrfQaqxPbe5iQkHDBvH79+umpp56qsG1V9Pou5ZlnntG8efN08ODBStsmAMC5CN0AgBrBZDJpzpw52rhxo/7973/bpycmJmrChAl655131KRJE3l7e1d6be+8847+/Oc/q169emrSpImOHj1qfzz99NNq166dw7S77rqr0musigoKCmS1Wl1dRoXIzc0tU7ugoCBFRUVp1qxZTq4IAFBZCN0AgBqjSZMmeuutt/TMM88oMTFRhmFo5MiRGjhwoO6///4LTi8/ffq0Hn74YTVo0EC+vr668cYbtW3btlLXX1BQoHHjxsnf31+BgYGaMGGCDMO4aE0FBQX64osvdOutt0qSLBaLQkND7Y969erJzc3N/rp+/fqaOHGigoODVadOHfXu3VubN2+2r2/16tUymUxasWKFunXrJm9vb/Xs2VP79u2zt7GdFv/JJ5/oqquukp+fn+6++26dOXPG3sZqtWratGmKiIiQl5eXOnbsqC+++MI+/9SpUxo+fLgaNGggLy8vtWjRQnPmzCl1P/v166fRo0dr9OjR8vPzU1BQkJ5//nmH9ycnJ0fPPPOMGjVqpLp166pHjx5avXq1ff7cuXPl7++vb7/9Vm3btpWnp6eSkpIu+v5eyqW2KUnr1q1Tv3795O3trfr16ysqKkqnTp3SAw88oDVr1uitt96yn4Xw22+/qaCgQCNHjrS/d61atdJbb73lsE7bZQf//Oc/FRYWplatWkmSDh06pL/85S/y9/dXQECAbr/9dv32228Oy956661auHDhFe03AKDqIHQDAGqU6Oho9e/fXw899JDeffdd7dy506Hnu7g///nPSk1N1dKlSxUfH68uXbqof//+OnnyZIntZ8yYoblz5+qjjz7S2rVrdfLkSX399dcXrWf79u1KS0tTt27dylT/hAkT9OWXX2revHnaunWrmjdvrqioqAtq+vvf/64ZM2Zoy5YtcnNz00MPPeQw/8CBA/rmm2+0ePFiLV68WGvWrNErr7xinz9t2jR9/PHHmj17tnbt2qWxY8fqvvvu05o1ayRJzz//vHbv3q2lS5dqz549mjVrloKCgi5a+7x58+Tm5qZNmzbprbfe0uuvv64PPvjAPn/06NGKi4vTwoULtX37dv35z3/WoEGD9Ouvv9rbZGVl6dVXX9UHH3ygXbt2KTg4uEzvW2kutc2EhAT1799fbdu2VVxcnNauXatbb71VBQUFeuuttxQZGalRo0bZz0Jo0qSJrFarGjdurM8//1y7d+/W5MmT9be//U2fffaZw7ZXrFihffv2KTY2VosXL1ZeXp6ioqLk4+Ojn376SevWrVO9evU0aNAgh57w7t276/DhwxeEcQBANWUAAFDDpKSkGEFBQYbZbDa+/vpr+/Tw8HDjjTfeMAzDMH766SfD19fXyM7Odli2WbNmxr///W/DMAxjypQpRseOHe3zGjZsaEyfPt3+Oi8vz2jcuLFx++23l1rL119/bVgsFsNqtZY4v/g2MjIyDHd3d2P+/Pn2+bm5uUZYWJh9u6tWrTIkGT/88IO9zZIlSwxJxtmzZ+3r9Pb2NtLT0+1txo8fb/To0cMwDMPIzs42vL29jfXr1zvUMnLkSOOee+4xDMMwbr31VuPBBx8sdb/Od/311xtt2rRx2M+JEycabdq0MQzDMH7//XfDYrEYf/zxh8Ny/fv3NyZNmmQYhmHMmTPHkGQkJCRcdFuJiYmGJMPLy8uoW7euw8NsNhtjxowp8zbvueceo1evXhfdL9v6LiYmJsYYNmyY/XV0dLQREhJi5OTk2Kd98sknRqtWrRzeo5ycHMPLy8tYvny5fVpaWpohyVi9evUltwsAqPrcXJr4AQBwguDgYP31r3/VN998U+rI4tu2bVNGRoYCAwMdpp89e1YHDhy4oH1aWpqOHj2qHj162Ke5ubmpW7duFz3F/OzZs/L09JTJZLpk3QcOHFBeXp569epln+bu7q7u3btrz549Dm07dOhgf96wYUNJUmpqqpo2bSqpcKR2Hx8fhzapqamSpP379ysrK0s33XSTwzpzc3PVuXNnSdJjjz2mYcOGaevWrRo4cKDuuOMO9ezZ86L1X3fddQ77GRkZqRkzZqigoEA7duxQQUGBWrZs6bBMTk6Ow8/Aw8PDYd8u5tNPP1WbNm0cpg0fPtz+vCzbTEhI0J///Ocyba+4mTNn6qOPPlJSUpLOnj2r3NzcC0a6b9++vTw8POyvt23bpv379zv8XCQpOzvb4Zjz8vKSVNjrDwCo/gjdAIAayc3NTW5upf9vLiMjQw0bNrzg+l5J8vf3r7A6goKClJWVpdzcXIcAdqXc3d3tz21Bt/igY8Xn29rY5mdkZEiSlixZokaNGjm08/T0lCQNHjxYv//+u7777jvFxsaqf//+iomJ0b/+9a/LqjcjI0MWi0Xx8fGyWCwO8+rVq2d/7uXlVaYvKKTCa/ibN2/uMM0WWMu6zeLty2rhwoV65plnNGPGDEVGRsrHx0evvfaaNm7c6NCubt26Dq8zMjLUtWtXzZ8//4J1NmjQwP7cdilB8WkAgOqL0A0AqJW6dOmi5ORkubm56aqrrrpkez8/PzVs2FAbN25U3759JUn5+fn2a8FLY+v93L179yXv+d2sWTN5eHho3bp1Cg8PlyTl5eVp8+bNFXrbquKDlF1//fWltmvQoIGio6MVHR2tPn36aPz48RcN3eeHzg0bNqhFixayWCzq3LmzCgoKlJqaqj59+lTYvlxMWbbZoUMHrVixQi+88EKJ8z08PFRQUOAwbd26derZs6cef/xx+7SSzo44X5cuXfTpp58qODhYvr6+pbbbuXOn3N3d1a5du0uuEwBQ9TGQGgCgVhowYIAiIyN1xx136Pvvv9dvv/2m9evX6+9//7u2bNlS4jJjxozRK6+8om+++UZ79+7V448/rtOnT190Ow0aNFCXLl20du3aS9ZUt25dPfbYYxo/fryWLVum3bt3a9SoUcrKytLIkSMvZzdL5OPjo2eeeUZjx47VvHnzdODAAW3dulXvvPOO5s2bJ0maPHmy/ve//2n//v3atWuXFi9efMGp3OdLSkrSuHHjtG/fPv33v//VO++8ozFjxkiSWrZsqeHDh2vEiBH66quvlJiYqE2bNmnatGlasmRJhe1bcWXZ5qRJk7R582Y9/vjj2r59u/bu3atZs2bp+PHjkgpP09+4caN+++03HT9+XFarVS1atNCWLVu0fPly/fLLL3r++ecdRpgvzfDhwxUUFKTbb79dP/30kxITE7V69Wo9+eSTOnz4sL3dTz/9pD59+lxWLzwAoOohdAMAaiWTyaTvvvtOffv21YMPPqiWLVvq7rvv1u+//66QkJASl3n66ad1//33Kzo62n5a8Z133nnJbT388MMlnlJckldeeUXDhg3T/fffry5dumj//v1avny56tevX679u5SXXnpJzz//vKZNm6Y2bdpo0KBBWrJkiSIiIiQV9vBOmjRJHTp0UN++fWWxWC55G6sRI0bo7Nmz6t69u2JiYjRmzBg98sgj9vlz5szRiBEj9PTTT6tVq1a64447tHnzZvt16M5wqW22bNlS33//vbZt26bu3bsrMjJS//vf/+yXJjzzzDOyWCxq27atGjRooKSkJP31r3/V0KFDddddd6lHjx46ceKEQ693aby9vfXjjz+qadOmGjp0qNq0aaORI0cqOzvboed74cKFGjVqlHPeEABApTMZFxv9BQAAXLGzZ8+qVatW+vTTTxUZGenqcpyiX79+6tSpk8N90FF+S5cu1dNPP63t27dfdEwCAED1QU83AABO5uXlpY8//th+yjJQmszMTM2ZM4fADQA1CH/RAQCoBP369XN1CagG/vSnP7m6BABABeP0cgAAAAAAnITTywEAAAAAcBJCNwAAAAAATkLoBgAAAADASQjdAAAAAAA4CaEbAAAAAAAnIXQDAAAAAOAkhG4AAAAAAJyE0A0AAAAAgJMQugEAAAAAcJL/B9un0Vj39wYh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204" y="1514131"/>
            <a:ext cx="8118357" cy="3571675"/>
          </a:xfrm>
          <a:prstGeom prst="rect">
            <a:avLst/>
          </a:prstGeom>
        </p:spPr>
      </p:pic>
      <p:sp>
        <p:nvSpPr>
          <p:cNvPr id="6" name="TextBox 5"/>
          <p:cNvSpPr txBox="1"/>
          <p:nvPr/>
        </p:nvSpPr>
        <p:spPr>
          <a:xfrm>
            <a:off x="460375" y="5233851"/>
            <a:ext cx="9936480" cy="87716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700" dirty="0" smtClean="0">
                <a:latin typeface="Times New Roman" panose="02020603050405020304" pitchFamily="18" charset="0"/>
                <a:cs typeface="Times New Roman" panose="02020603050405020304" pitchFamily="18" charset="0"/>
              </a:rPr>
              <a:t>Crop </a:t>
            </a:r>
            <a:r>
              <a:rPr lang="en-US" sz="1700" dirty="0">
                <a:latin typeface="Times New Roman" panose="02020603050405020304" pitchFamily="18" charset="0"/>
                <a:cs typeface="Times New Roman" panose="02020603050405020304" pitchFamily="18" charset="0"/>
              </a:rPr>
              <a:t>yield shows variation across the agricultural observations in the dataset</a:t>
            </a:r>
            <a:r>
              <a:rPr lang="en-US" sz="17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 distribution provides an overall view of agricultural productivity before comparing crops and seasons.</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423409" y="222543"/>
            <a:ext cx="2981643" cy="830997"/>
          </a:xfrm>
        </p:spPr>
        <p:txBody>
          <a:bodyPr>
            <a:normAutofit/>
          </a:bodyPr>
          <a:lstStyle/>
          <a:p>
            <a:r>
              <a:rPr lang="en-GB" sz="4300" dirty="0">
                <a:latin typeface="Times New Roman" panose="02020603050405020304" pitchFamily="18" charset="0"/>
                <a:cs typeface="Times New Roman" panose="02020603050405020304" pitchFamily="18" charset="0"/>
              </a:rPr>
              <a:t>RESULTS </a:t>
            </a:r>
            <a:endParaRPr lang="en-IN" sz="43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789747" y="1053540"/>
            <a:ext cx="4275138" cy="477520"/>
          </a:xfrm>
        </p:spPr>
        <p:txBody>
          <a:bodyPr>
            <a:normAutofit/>
          </a:bodyPr>
          <a:lstStyle/>
          <a:p>
            <a:pPr marL="0" indent="0">
              <a:buNone/>
            </a:pPr>
            <a:r>
              <a:rPr lang="en-IN" sz="1800" dirty="0">
                <a:latin typeface="Times New Roman" panose="02020603050405020304" pitchFamily="18" charset="0"/>
                <a:cs typeface="Times New Roman" panose="02020603050405020304" pitchFamily="18" charset="0"/>
              </a:rPr>
              <a:t>Average Yield by </a:t>
            </a:r>
            <a:r>
              <a:rPr lang="en-IN" sz="1800" dirty="0" smtClean="0">
                <a:latin typeface="Times New Roman" panose="02020603050405020304" pitchFamily="18" charset="0"/>
                <a:cs typeface="Times New Roman" panose="02020603050405020304" pitchFamily="18" charset="0"/>
              </a:rPr>
              <a:t>Crop</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57" y="1531060"/>
            <a:ext cx="8415792" cy="3763751"/>
          </a:xfrm>
          <a:prstGeom prst="rect">
            <a:avLst/>
          </a:prstGeom>
        </p:spPr>
      </p:pic>
      <p:sp>
        <p:nvSpPr>
          <p:cNvPr id="6" name="TextBox 5"/>
          <p:cNvSpPr txBox="1"/>
          <p:nvPr/>
        </p:nvSpPr>
        <p:spPr>
          <a:xfrm>
            <a:off x="675957" y="5294811"/>
            <a:ext cx="8786948" cy="8771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Average crop yield varies across different crops</a:t>
            </a:r>
            <a:r>
              <a:rPr lang="en-US" sz="1700" dirty="0" smtClean="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 comparison helps identify relatively higher- and lower-performing crops.</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320982" y="265889"/>
            <a:ext cx="2981643" cy="830997"/>
          </a:xfrm>
        </p:spPr>
        <p:txBody>
          <a:bodyPr>
            <a:normAutofit/>
          </a:bodyPr>
          <a:lstStyle/>
          <a:p>
            <a:r>
              <a:rPr lang="en-GB" sz="4300" dirty="0">
                <a:latin typeface="Times New Roman" panose="02020603050405020304" pitchFamily="18" charset="0"/>
                <a:cs typeface="Times New Roman" panose="02020603050405020304" pitchFamily="18" charset="0"/>
              </a:rPr>
              <a:t>RESULTS </a:t>
            </a:r>
            <a:endParaRPr lang="en-IN" sz="43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6E3B1C7-6A8B-23EE-6251-DC1067C6ADE9}"/>
              </a:ext>
            </a:extLst>
          </p:cNvPr>
          <p:cNvSpPr>
            <a:spLocks noGrp="1"/>
          </p:cNvSpPr>
          <p:nvPr>
            <p:ph type="body" sz="quarter" idx="12"/>
          </p:nvPr>
        </p:nvSpPr>
        <p:spPr>
          <a:xfrm>
            <a:off x="681513" y="1097083"/>
            <a:ext cx="4275138" cy="477520"/>
          </a:xfrm>
        </p:spPr>
        <p:txBody>
          <a:bodyPr>
            <a:normAutofit/>
          </a:bodyPr>
          <a:lstStyle/>
          <a:p>
            <a:pPr marL="0" indent="0">
              <a:buNone/>
            </a:pPr>
            <a:r>
              <a:rPr lang="en-IN" sz="1800" dirty="0">
                <a:latin typeface="Times New Roman" panose="02020603050405020304" pitchFamily="18" charset="0"/>
                <a:cs typeface="Times New Roman" panose="02020603050405020304" pitchFamily="18" charset="0"/>
              </a:rPr>
              <a:t>Average Yield by Season</a:t>
            </a:r>
            <a:endParaRPr lang="en-IN" sz="18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57" y="1574603"/>
            <a:ext cx="8640872" cy="3742069"/>
          </a:xfrm>
          <a:prstGeom prst="rect">
            <a:avLst/>
          </a:prstGeom>
        </p:spPr>
      </p:pic>
      <p:sp>
        <p:nvSpPr>
          <p:cNvPr id="3" name="TextBox 2"/>
          <p:cNvSpPr txBox="1"/>
          <p:nvPr/>
        </p:nvSpPr>
        <p:spPr>
          <a:xfrm flipH="1">
            <a:off x="675957" y="5316672"/>
            <a:ext cx="8781551" cy="8771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700" dirty="0" smtClean="0">
                <a:latin typeface="Times New Roman" panose="02020603050405020304" pitchFamily="18" charset="0"/>
                <a:cs typeface="Times New Roman" panose="02020603050405020304" pitchFamily="18" charset="0"/>
              </a:rPr>
              <a:t>Average </a:t>
            </a:r>
            <a:r>
              <a:rPr lang="en-US" sz="1700" dirty="0">
                <a:latin typeface="Times New Roman" panose="02020603050405020304" pitchFamily="18" charset="0"/>
                <a:cs typeface="Times New Roman" panose="02020603050405020304" pitchFamily="18" charset="0"/>
              </a:rPr>
              <a:t>crop yield differs across agricultural seasons</a:t>
            </a:r>
            <a:r>
              <a:rPr lang="en-US" sz="1700" dirty="0" smtClean="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 variation highlights the influence of seasonal conditions on agricultural performance.</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320982" y="248669"/>
            <a:ext cx="2981643" cy="830997"/>
          </a:xfrm>
        </p:spPr>
        <p:txBody>
          <a:bodyPr>
            <a:normAutofit/>
          </a:bodyPr>
          <a:lstStyle/>
          <a:p>
            <a:r>
              <a:rPr lang="en-GB" sz="4300" dirty="0">
                <a:latin typeface="Times New Roman" panose="02020603050405020304" pitchFamily="18" charset="0"/>
                <a:cs typeface="Times New Roman" panose="02020603050405020304" pitchFamily="18" charset="0"/>
              </a:rPr>
              <a:t>RESULTS </a:t>
            </a:r>
            <a:endParaRPr lang="en-IN" sz="43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2B7B89A1-9444-8322-CADC-42D31D698FA8}"/>
              </a:ext>
            </a:extLst>
          </p:cNvPr>
          <p:cNvSpPr>
            <a:spLocks noGrp="1"/>
          </p:cNvSpPr>
          <p:nvPr>
            <p:ph type="body" sz="quarter" idx="12"/>
          </p:nvPr>
        </p:nvSpPr>
        <p:spPr>
          <a:xfrm>
            <a:off x="681513" y="1079666"/>
            <a:ext cx="4275138" cy="477520"/>
          </a:xfrm>
        </p:spPr>
        <p:txBody>
          <a:bodyPr>
            <a:normAutofit/>
          </a:bodyPr>
          <a:lstStyle/>
          <a:p>
            <a:pPr marL="0" indent="0">
              <a:buNone/>
            </a:pPr>
            <a:r>
              <a:rPr lang="en-IN" sz="1800" dirty="0">
                <a:latin typeface="Times New Roman" panose="02020603050405020304" pitchFamily="18" charset="0"/>
                <a:cs typeface="Times New Roman" panose="02020603050405020304" pitchFamily="18" charset="0"/>
              </a:rPr>
              <a:t>Rainfall vs Crop Yield</a:t>
            </a:r>
            <a:endParaRPr lang="en-IN" sz="18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57" y="1557186"/>
            <a:ext cx="8494169" cy="3572163"/>
          </a:xfrm>
          <a:prstGeom prst="rect">
            <a:avLst/>
          </a:prstGeom>
        </p:spPr>
      </p:pic>
      <p:sp>
        <p:nvSpPr>
          <p:cNvPr id="3" name="TextBox 2"/>
          <p:cNvSpPr txBox="1"/>
          <p:nvPr/>
        </p:nvSpPr>
        <p:spPr>
          <a:xfrm>
            <a:off x="675957" y="5129349"/>
            <a:ext cx="9478237" cy="12695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 relationship between rainfall and crop yield shows how environmental conditions are associated with agricultural productivity</a:t>
            </a:r>
            <a:r>
              <a:rPr lang="en-US" sz="1700" dirty="0" smtClean="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Understanding rainfall patterns can support better seasonal crop and resource planning.</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501940" y="154499"/>
            <a:ext cx="2981643" cy="830997"/>
          </a:xfrm>
        </p:spPr>
        <p:txBody>
          <a:bodyPr>
            <a:normAutofit/>
          </a:bodyPr>
          <a:lstStyle/>
          <a:p>
            <a:r>
              <a:rPr lang="en-GB" sz="4300" dirty="0">
                <a:latin typeface="Times New Roman" panose="02020603050405020304" pitchFamily="18" charset="0"/>
                <a:cs typeface="Times New Roman" panose="02020603050405020304" pitchFamily="18" charset="0"/>
              </a:rPr>
              <a:t>RESULTS </a:t>
            </a:r>
            <a:endParaRPr lang="en-IN" sz="43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681513" y="985496"/>
            <a:ext cx="4275138" cy="477520"/>
          </a:xfrm>
        </p:spPr>
        <p:txBody>
          <a:bodyPr>
            <a:normAutofit/>
          </a:bodyPr>
          <a:lstStyle/>
          <a:p>
            <a:pPr marL="0" indent="0">
              <a:buNone/>
            </a:pPr>
            <a:r>
              <a:rPr lang="en-IN" sz="1800" dirty="0">
                <a:latin typeface="Times New Roman" panose="02020603050405020304" pitchFamily="18" charset="0"/>
                <a:cs typeface="Times New Roman" panose="02020603050405020304" pitchFamily="18" charset="0"/>
              </a:rPr>
              <a:t>Total Profit by Crop</a:t>
            </a:r>
            <a:endParaRPr lang="en-IN" sz="18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57" y="1385275"/>
            <a:ext cx="8520294" cy="3796325"/>
          </a:xfrm>
          <a:prstGeom prst="rect">
            <a:avLst/>
          </a:prstGeom>
        </p:spPr>
      </p:pic>
      <p:sp>
        <p:nvSpPr>
          <p:cNvPr id="3" name="TextBox 2"/>
          <p:cNvSpPr txBox="1"/>
          <p:nvPr/>
        </p:nvSpPr>
        <p:spPr>
          <a:xfrm flipH="1">
            <a:off x="501940" y="5181600"/>
            <a:ext cx="9408414" cy="12695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700" dirty="0" smtClean="0">
                <a:latin typeface="Times New Roman" panose="02020603050405020304" pitchFamily="18" charset="0"/>
                <a:cs typeface="Times New Roman" panose="02020603050405020304" pitchFamily="18" charset="0"/>
              </a:rPr>
              <a:t>Total </a:t>
            </a:r>
            <a:r>
              <a:rPr lang="en-US" sz="1700" dirty="0">
                <a:latin typeface="Times New Roman" panose="02020603050405020304" pitchFamily="18" charset="0"/>
                <a:cs typeface="Times New Roman" panose="02020603050405020304" pitchFamily="18" charset="0"/>
              </a:rPr>
              <a:t>profit varies across different crops</a:t>
            </a:r>
            <a:r>
              <a:rPr lang="en-US" sz="1700" dirty="0" smtClean="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Economic performance should be considered alongside crop yield when evaluating overall agricultural performance.</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320982" y="257377"/>
            <a:ext cx="4735798" cy="830997"/>
          </a:xfrm>
        </p:spPr>
        <p:txBody>
          <a:bodyPr>
            <a:normAutofit/>
          </a:bodyPr>
          <a:lstStyle/>
          <a:p>
            <a:r>
              <a:rPr lang="en-IN" sz="43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p:cNvSpPr txBox="1"/>
          <p:nvPr/>
        </p:nvSpPr>
        <p:spPr>
          <a:xfrm>
            <a:off x="675957" y="1275371"/>
            <a:ext cx="9963223" cy="4524315"/>
          </a:xfrm>
          <a:prstGeom prst="rect">
            <a:avLst/>
          </a:prstGeom>
          <a:noFill/>
        </p:spPr>
        <p:txBody>
          <a:bodyPr wrap="square" rtlCol="0">
            <a:spAutoFit/>
          </a:bodyPr>
          <a:lstStyle/>
          <a:p>
            <a:pPr marL="342900" indent="-342900" algn="just">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Real-Time Agricultural </a:t>
            </a:r>
            <a:r>
              <a:rPr lang="en-IN" b="1" dirty="0" smtClean="0">
                <a:latin typeface="Times New Roman" panose="02020603050405020304" pitchFamily="18" charset="0"/>
                <a:cs typeface="Times New Roman" panose="02020603050405020304" pitchFamily="18" charset="0"/>
              </a:rPr>
              <a:t>Data</a:t>
            </a:r>
          </a:p>
          <a:p>
            <a:pPr algn="just">
              <a:lnSpc>
                <a:spcPct val="150000"/>
              </a:lnSpc>
            </a:pPr>
            <a:r>
              <a:rPr lang="en-US" sz="1700" dirty="0" smtClean="0">
                <a:latin typeface="Times New Roman" panose="02020603050405020304" pitchFamily="18" charset="0"/>
                <a:cs typeface="Times New Roman" panose="02020603050405020304" pitchFamily="18" charset="0"/>
              </a:rPr>
              <a:t>Integrate real-time weather, soil and environmental data for continuous monitoring of crop performance.</a:t>
            </a:r>
          </a:p>
          <a:p>
            <a:pPr marL="342900" indent="-342900" algn="just">
              <a:lnSpc>
                <a:spcPct val="150000"/>
              </a:lnSpc>
              <a:buFont typeface="+mj-lt"/>
              <a:buAutoNum type="arabicPeriod" startAt="2"/>
            </a:pPr>
            <a:r>
              <a:rPr lang="en-IN" b="1" dirty="0" smtClean="0">
                <a:latin typeface="Times New Roman" panose="02020603050405020304" pitchFamily="18" charset="0"/>
                <a:cs typeface="Times New Roman" panose="02020603050405020304" pitchFamily="18" charset="0"/>
              </a:rPr>
              <a:t>Predictive Analytics</a:t>
            </a:r>
          </a:p>
          <a:p>
            <a:pPr algn="just">
              <a:lnSpc>
                <a:spcPct val="150000"/>
              </a:lnSpc>
            </a:pPr>
            <a:r>
              <a:rPr lang="en-US" sz="1700" dirty="0">
                <a:latin typeface="Times New Roman" panose="02020603050405020304" pitchFamily="18" charset="0"/>
                <a:cs typeface="Times New Roman" panose="02020603050405020304" pitchFamily="18" charset="0"/>
              </a:rPr>
              <a:t>Develop machine learning models to predict crop yield based on seasonal, environmental and farming factors</a:t>
            </a:r>
            <a:r>
              <a:rPr lang="en-US" sz="17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mj-lt"/>
              <a:buAutoNum type="arabicPeriod" startAt="3"/>
            </a:pPr>
            <a:r>
              <a:rPr lang="en-IN" b="1" dirty="0">
                <a:latin typeface="Times New Roman" panose="02020603050405020304" pitchFamily="18" charset="0"/>
                <a:cs typeface="Times New Roman" panose="02020603050405020304" pitchFamily="18" charset="0"/>
              </a:rPr>
              <a:t>Advanced Crop </a:t>
            </a:r>
            <a:r>
              <a:rPr lang="en-IN" b="1" dirty="0" smtClean="0">
                <a:latin typeface="Times New Roman" panose="02020603050405020304" pitchFamily="18" charset="0"/>
                <a:cs typeface="Times New Roman" panose="02020603050405020304" pitchFamily="18" charset="0"/>
              </a:rPr>
              <a:t>Recommendations</a:t>
            </a:r>
          </a:p>
          <a:p>
            <a:pPr algn="just">
              <a:lnSpc>
                <a:spcPct val="150000"/>
              </a:lnSpc>
            </a:pPr>
            <a:r>
              <a:rPr lang="en-US" sz="1700" dirty="0">
                <a:latin typeface="Times New Roman" panose="02020603050405020304" pitchFamily="18" charset="0"/>
                <a:cs typeface="Times New Roman" panose="02020603050405020304" pitchFamily="18" charset="0"/>
              </a:rPr>
              <a:t>Build a recommendation system to suggest suitable crops based on soil, climate and seasonal conditions</a:t>
            </a:r>
            <a:r>
              <a:rPr lang="en-US" sz="17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mj-lt"/>
              <a:buAutoNum type="arabicPeriod" startAt="4"/>
            </a:pPr>
            <a:r>
              <a:rPr lang="en-IN" b="1" dirty="0">
                <a:latin typeface="Times New Roman" panose="02020603050405020304" pitchFamily="18" charset="0"/>
                <a:cs typeface="Times New Roman" panose="02020603050405020304" pitchFamily="18" charset="0"/>
              </a:rPr>
              <a:t>Geographical </a:t>
            </a:r>
            <a:r>
              <a:rPr lang="en-IN" b="1" dirty="0" smtClean="0">
                <a:latin typeface="Times New Roman" panose="02020603050405020304" pitchFamily="18" charset="0"/>
                <a:cs typeface="Times New Roman" panose="02020603050405020304" pitchFamily="18" charset="0"/>
              </a:rPr>
              <a:t>Analysis</a:t>
            </a:r>
          </a:p>
          <a:p>
            <a:pPr algn="just">
              <a:lnSpc>
                <a:spcPct val="150000"/>
              </a:lnSpc>
            </a:pPr>
            <a:r>
              <a:rPr lang="en-US" sz="1700" dirty="0">
                <a:latin typeface="Times New Roman" panose="02020603050405020304" pitchFamily="18" charset="0"/>
                <a:cs typeface="Times New Roman" panose="02020603050405020304" pitchFamily="18" charset="0"/>
              </a:rPr>
              <a:t>Incorporate location-based and satellite data to study agricultural performance at district and regional levels</a:t>
            </a:r>
            <a:r>
              <a:rPr lang="en-US" sz="17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mj-lt"/>
              <a:buAutoNum type="arabicPeriod" startAt="5"/>
            </a:pPr>
            <a:r>
              <a:rPr lang="en-IN" b="1" dirty="0">
                <a:latin typeface="Times New Roman" panose="02020603050405020304" pitchFamily="18" charset="0"/>
                <a:cs typeface="Times New Roman" panose="02020603050405020304" pitchFamily="18" charset="0"/>
              </a:rPr>
              <a:t>Interactive </a:t>
            </a:r>
            <a:r>
              <a:rPr lang="en-IN" b="1" dirty="0" smtClean="0">
                <a:latin typeface="Times New Roman" panose="02020603050405020304" pitchFamily="18" charset="0"/>
                <a:cs typeface="Times New Roman" panose="02020603050405020304" pitchFamily="18" charset="0"/>
              </a:rPr>
              <a:t>Dashboard</a:t>
            </a:r>
          </a:p>
          <a:p>
            <a:pPr algn="just">
              <a:lnSpc>
                <a:spcPct val="150000"/>
              </a:lnSpc>
            </a:pPr>
            <a:r>
              <a:rPr lang="en-US" sz="1700" dirty="0">
                <a:latin typeface="Times New Roman" panose="02020603050405020304" pitchFamily="18" charset="0"/>
                <a:cs typeface="Times New Roman" panose="02020603050405020304" pitchFamily="18" charset="0"/>
              </a:rPr>
              <a:t>Develop an interactive Power BI or web-based dashboard for farmers, researchers and agricultural departments to explore insights dynamically.</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266086"/>
            <a:ext cx="4735798" cy="830997"/>
          </a:xfrm>
        </p:spPr>
        <p:txBody>
          <a:bodyPr>
            <a:normAutofit/>
          </a:bodyPr>
          <a:lstStyle/>
          <a:p>
            <a:r>
              <a:rPr lang="en-IN" sz="43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432117" y="256252"/>
            <a:ext cx="9112477" cy="1485462"/>
          </a:xfrm>
        </p:spPr>
        <p:txBody>
          <a:bodyPr>
            <a:noAutofit/>
          </a:bodyPr>
          <a:lstStyle/>
          <a:p>
            <a:r>
              <a:rPr lang="en-IN" sz="4300" dirty="0">
                <a:latin typeface="Times New Roman" panose="02020603050405020304" pitchFamily="18" charset="0"/>
                <a:cs typeface="Times New Roman" panose="02020603050405020304" pitchFamily="18" charset="0"/>
              </a:rPr>
              <a:t>VOIS Course completion certificate - </a:t>
            </a:r>
            <a:br>
              <a:rPr lang="en-IN" sz="4300" dirty="0">
                <a:latin typeface="Times New Roman" panose="02020603050405020304" pitchFamily="18" charset="0"/>
                <a:cs typeface="Times New Roman" panose="02020603050405020304" pitchFamily="18" charset="0"/>
              </a:rPr>
            </a:br>
            <a:r>
              <a:rPr lang="en-IN" sz="43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57" y="1769291"/>
            <a:ext cx="8915501" cy="477497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426000" y="3149741"/>
            <a:ext cx="11340000" cy="700114"/>
          </a:xfrm>
          <a:prstGeom prst="rect">
            <a:avLst/>
          </a:prstGeom>
        </p:spPr>
        <p:txBody>
          <a:bodyPr anchor="ctr">
            <a:normAutofit fontScale="90000"/>
          </a:bodyPr>
          <a:lstStyle/>
          <a:p>
            <a:pPr algn="ctr"/>
            <a:r>
              <a:rPr lang="en-US" sz="4800" b="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663</TotalTime>
  <Words>648</Words>
  <Application>Microsoft Office PowerPoint</Application>
  <PresentationFormat>Widescreen</PresentationFormat>
  <Paragraphs>75</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Microsoft account</cp:lastModifiedBy>
  <cp:revision>106</cp:revision>
  <dcterms:created xsi:type="dcterms:W3CDTF">2021-07-11T13:13:15Z</dcterms:created>
  <dcterms:modified xsi:type="dcterms:W3CDTF">2026-09-08T09:03:19Z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